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57"/>
  </p:notesMasterIdLst>
  <p:handoutMasterIdLst>
    <p:handoutMasterId r:id="rId58"/>
  </p:handoutMasterIdLst>
  <p:sldIdLst>
    <p:sldId id="1172" r:id="rId2"/>
    <p:sldId id="1016" r:id="rId3"/>
    <p:sldId id="1015" r:id="rId4"/>
    <p:sldId id="1057" r:id="rId5"/>
    <p:sldId id="1097" r:id="rId6"/>
    <p:sldId id="1165" r:id="rId7"/>
    <p:sldId id="1059" r:id="rId8"/>
    <p:sldId id="1055" r:id="rId9"/>
    <p:sldId id="1060" r:id="rId10"/>
    <p:sldId id="1134" r:id="rId11"/>
    <p:sldId id="1139" r:id="rId12"/>
    <p:sldId id="1140" r:id="rId13"/>
    <p:sldId id="1135" r:id="rId14"/>
    <p:sldId id="1149" r:id="rId15"/>
    <p:sldId id="1150" r:id="rId16"/>
    <p:sldId id="1115" r:id="rId17"/>
    <p:sldId id="1153" r:id="rId18"/>
    <p:sldId id="1154" r:id="rId19"/>
    <p:sldId id="1151" r:id="rId20"/>
    <p:sldId id="1152" r:id="rId21"/>
    <p:sldId id="1061" r:id="rId22"/>
    <p:sldId id="1092" r:id="rId23"/>
    <p:sldId id="1062" r:id="rId24"/>
    <p:sldId id="1163" r:id="rId25"/>
    <p:sldId id="1188" r:id="rId26"/>
    <p:sldId id="1187" r:id="rId27"/>
    <p:sldId id="1186" r:id="rId28"/>
    <p:sldId id="1185" r:id="rId29"/>
    <p:sldId id="1184" r:id="rId30"/>
    <p:sldId id="1183" r:id="rId31"/>
    <p:sldId id="1162" r:id="rId32"/>
    <p:sldId id="1182" r:id="rId33"/>
    <p:sldId id="1164" r:id="rId34"/>
    <p:sldId id="1166" r:id="rId35"/>
    <p:sldId id="1167" r:id="rId36"/>
    <p:sldId id="1168" r:id="rId37"/>
    <p:sldId id="1169" r:id="rId38"/>
    <p:sldId id="1170" r:id="rId39"/>
    <p:sldId id="1171" r:id="rId40"/>
    <p:sldId id="1175" r:id="rId41"/>
    <p:sldId id="1176" r:id="rId42"/>
    <p:sldId id="1177" r:id="rId43"/>
    <p:sldId id="1178" r:id="rId44"/>
    <p:sldId id="1131" r:id="rId45"/>
    <p:sldId id="1132" r:id="rId46"/>
    <p:sldId id="1133" r:id="rId47"/>
    <p:sldId id="1159" r:id="rId48"/>
    <p:sldId id="1160" r:id="rId49"/>
    <p:sldId id="1098" r:id="rId50"/>
    <p:sldId id="1179" r:id="rId51"/>
    <p:sldId id="1180" r:id="rId52"/>
    <p:sldId id="1099" r:id="rId53"/>
    <p:sldId id="1142" r:id="rId54"/>
    <p:sldId id="1181" r:id="rId55"/>
    <p:sldId id="1056" r:id="rId56"/>
  </p:sldIdLst>
  <p:sldSz cx="9144000" cy="5715000" type="screen16x1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18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36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54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72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5905" algn="l" defTabSz="914362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086" algn="l" defTabSz="914362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266" algn="l" defTabSz="914362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448" algn="l" defTabSz="914362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7B92B57C-11DD-454F-9D0A-6F94A4875612}">
          <p14:sldIdLst>
            <p14:sldId id="1172"/>
            <p14:sldId id="1016"/>
            <p14:sldId id="1015"/>
            <p14:sldId id="1057"/>
            <p14:sldId id="1097"/>
            <p14:sldId id="1165"/>
            <p14:sldId id="1059"/>
            <p14:sldId id="1055"/>
            <p14:sldId id="1060"/>
            <p14:sldId id="1134"/>
            <p14:sldId id="1139"/>
            <p14:sldId id="1140"/>
            <p14:sldId id="1135"/>
            <p14:sldId id="1149"/>
            <p14:sldId id="1150"/>
            <p14:sldId id="1115"/>
            <p14:sldId id="1153"/>
            <p14:sldId id="1154"/>
            <p14:sldId id="1151"/>
            <p14:sldId id="1152"/>
            <p14:sldId id="1061"/>
            <p14:sldId id="1092"/>
            <p14:sldId id="1062"/>
            <p14:sldId id="1163"/>
            <p14:sldId id="1188"/>
            <p14:sldId id="1187"/>
            <p14:sldId id="1186"/>
            <p14:sldId id="1185"/>
            <p14:sldId id="1184"/>
            <p14:sldId id="1183"/>
            <p14:sldId id="1162"/>
            <p14:sldId id="1182"/>
            <p14:sldId id="1164"/>
            <p14:sldId id="1166"/>
            <p14:sldId id="1167"/>
            <p14:sldId id="1168"/>
            <p14:sldId id="1169"/>
            <p14:sldId id="1170"/>
            <p14:sldId id="1171"/>
            <p14:sldId id="1175"/>
            <p14:sldId id="1176"/>
            <p14:sldId id="1177"/>
            <p14:sldId id="1178"/>
            <p14:sldId id="1131"/>
            <p14:sldId id="1132"/>
            <p14:sldId id="1133"/>
            <p14:sldId id="1159"/>
            <p14:sldId id="1160"/>
            <p14:sldId id="1098"/>
            <p14:sldId id="1179"/>
            <p14:sldId id="1180"/>
            <p14:sldId id="1099"/>
            <p14:sldId id="1142"/>
            <p14:sldId id="1181"/>
            <p14:sldId id="1056"/>
          </p14:sldIdLst>
        </p14:section>
        <p14:section name="Untitled Section" id="{B28BDDAF-C997-477A-B0DE-7CB28E836CD7}">
          <p14:sldIdLst/>
        </p14:section>
      </p14:sectionLst>
    </p:ext>
    <p:ext uri="{EFAFB233-063F-42B5-8137-9DF3F51BA10A}">
      <p15:sldGuideLst xmlns:p15="http://schemas.microsoft.com/office/powerpoint/2012/main" xmlns="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1">
          <p15:clr>
            <a:srgbClr val="A4A3A4"/>
          </p15:clr>
        </p15:guide>
        <p15:guide id="5" orient="horz" pos="2969">
          <p15:clr>
            <a:srgbClr val="A4A3A4"/>
          </p15:clr>
        </p15:guide>
        <p15:guide id="6" orient="horz" pos="3224">
          <p15:clr>
            <a:srgbClr val="A4A3A4"/>
          </p15:clr>
        </p15:guide>
        <p15:guide id="7" pos="2256">
          <p15:clr>
            <a:srgbClr val="A4A3A4"/>
          </p15:clr>
        </p15:guide>
        <p15:guide id="8" pos="2236">
          <p15:clr>
            <a:srgbClr val="A4A3A4"/>
          </p15:clr>
        </p15:guide>
        <p15:guide id="9" pos="2161">
          <p15:clr>
            <a:srgbClr val="A4A3A4"/>
          </p15:clr>
        </p15:guide>
        <p15:guide id="10" pos="2142">
          <p15:clr>
            <a:srgbClr val="A4A3A4"/>
          </p15:clr>
        </p15:guide>
        <p15:guide id="11" pos="2258">
          <p15:clr>
            <a:srgbClr val="A4A3A4"/>
          </p15:clr>
        </p15:guide>
        <p15:guide id="12" pos="2238">
          <p15:clr>
            <a:srgbClr val="A4A3A4"/>
          </p15:clr>
        </p15:guide>
        <p15:guide id="13" orient="horz" pos="2702">
          <p15:clr>
            <a:srgbClr val="A4A3A4"/>
          </p15:clr>
        </p15:guide>
        <p15:guide id="14" orient="horz" pos="2933">
          <p15:clr>
            <a:srgbClr val="A4A3A4"/>
          </p15:clr>
        </p15:guide>
        <p15:guide id="15" orient="horz" pos="2785">
          <p15:clr>
            <a:srgbClr val="A4A3A4"/>
          </p15:clr>
        </p15:guide>
        <p15:guide id="16" orient="horz" pos="3024">
          <p15:clr>
            <a:srgbClr val="A4A3A4"/>
          </p15:clr>
        </p15:guide>
        <p15:guide id="17" pos="2224">
          <p15:clr>
            <a:srgbClr val="A4A3A4"/>
          </p15:clr>
        </p15:guide>
        <p15:guide id="18" pos="2205">
          <p15:clr>
            <a:srgbClr val="A4A3A4"/>
          </p15:clr>
        </p15:guide>
        <p15:guide id="19" pos="2323">
          <p15:clr>
            <a:srgbClr val="A4A3A4"/>
          </p15:clr>
        </p15:guide>
        <p15:guide id="20" pos="2302">
          <p15:clr>
            <a:srgbClr val="A4A3A4"/>
          </p15:clr>
        </p15:guide>
        <p15:guide id="21" pos="2225">
          <p15:clr>
            <a:srgbClr val="A4A3A4"/>
          </p15:clr>
        </p15:guide>
        <p15:guide id="22" pos="2206">
          <p15:clr>
            <a:srgbClr val="A4A3A4"/>
          </p15:clr>
        </p15:guide>
        <p15:guide id="23" pos="2325">
          <p15:clr>
            <a:srgbClr val="A4A3A4"/>
          </p15:clr>
        </p15:guide>
        <p15:guide id="24" pos="23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080808"/>
    <a:srgbClr val="1F497D"/>
    <a:srgbClr val="0000FF"/>
    <a:srgbClr val="000066"/>
    <a:srgbClr val="CC0066"/>
    <a:srgbClr val="009900"/>
    <a:srgbClr val="A3BCD7"/>
    <a:srgbClr val="00FF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9570" autoAdjust="0"/>
  </p:normalViewPr>
  <p:slideViewPr>
    <p:cSldViewPr>
      <p:cViewPr>
        <p:scale>
          <a:sx n="96" d="100"/>
          <a:sy n="96" d="100"/>
        </p:scale>
        <p:origin x="-1056" y="-348"/>
      </p:cViewPr>
      <p:guideLst>
        <p:guide orient="horz" pos="1920"/>
        <p:guide orient="horz" pos="1600"/>
        <p:guide pos="2880"/>
      </p:guideLst>
    </p:cSldViewPr>
  </p:slideViewPr>
  <p:outlineViewPr>
    <p:cViewPr>
      <p:scale>
        <a:sx n="33" d="100"/>
        <a:sy n="33" d="100"/>
      </p:scale>
      <p:origin x="0" y="132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00" d="100"/>
        <a:sy n="100" d="100"/>
      </p:scale>
      <p:origin x="0" y="4032"/>
    </p:cViewPr>
  </p:sorterViewPr>
  <p:notesViewPr>
    <p:cSldViewPr>
      <p:cViewPr varScale="1">
        <p:scale>
          <a:sx n="53" d="100"/>
          <a:sy n="53" d="100"/>
        </p:scale>
        <p:origin x="-2868" y="-90"/>
      </p:cViewPr>
      <p:guideLst>
        <p:guide orient="horz" pos="2880"/>
        <p:guide orient="horz" pos="3127"/>
        <p:guide orient="horz" pos="2969"/>
        <p:guide orient="horz" pos="3224"/>
        <p:guide orient="horz" pos="2702"/>
        <p:guide orient="horz" pos="2933"/>
        <p:guide orient="horz" pos="2785"/>
        <p:guide orient="horz" pos="3024"/>
        <p:guide pos="2160"/>
        <p:guide pos="2141"/>
        <p:guide pos="2256"/>
        <p:guide pos="2236"/>
        <p:guide pos="2161"/>
        <p:guide pos="2142"/>
        <p:guide pos="2258"/>
        <p:guide pos="2238"/>
        <p:guide pos="2224"/>
        <p:guide pos="2205"/>
        <p:guide pos="2323"/>
        <p:guide pos="2302"/>
        <p:guide pos="2225"/>
        <p:guide pos="2206"/>
        <p:guide pos="23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169920" cy="480060"/>
          </a:xfrm>
          <a:prstGeom prst="rect">
            <a:avLst/>
          </a:prstGeom>
        </p:spPr>
        <p:txBody>
          <a:bodyPr vert="horz" lIns="94767" tIns="47383" rIns="94767" bIns="4738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90" y="3"/>
            <a:ext cx="3169920" cy="480060"/>
          </a:xfrm>
          <a:prstGeom prst="rect">
            <a:avLst/>
          </a:prstGeom>
        </p:spPr>
        <p:txBody>
          <a:bodyPr vert="horz" lIns="94767" tIns="47383" rIns="94767" bIns="4738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119476"/>
            <a:ext cx="3169920" cy="480060"/>
          </a:xfrm>
          <a:prstGeom prst="rect">
            <a:avLst/>
          </a:prstGeom>
        </p:spPr>
        <p:txBody>
          <a:bodyPr vert="horz" lIns="94767" tIns="47383" rIns="94767" bIns="4738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90" y="9119476"/>
            <a:ext cx="3169920" cy="480060"/>
          </a:xfrm>
          <a:prstGeom prst="rect">
            <a:avLst/>
          </a:prstGeom>
        </p:spPr>
        <p:txBody>
          <a:bodyPr vert="horz" lIns="94767" tIns="47383" rIns="94767" bIns="4738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B306386-680C-40E8-9D08-84D19235B9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3116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169920" cy="480060"/>
          </a:xfrm>
          <a:prstGeom prst="rect">
            <a:avLst/>
          </a:prstGeom>
        </p:spPr>
        <p:txBody>
          <a:bodyPr vert="horz" lIns="94767" tIns="47383" rIns="94767" bIns="4738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3"/>
            <a:ext cx="3169920" cy="480060"/>
          </a:xfrm>
          <a:prstGeom prst="rect">
            <a:avLst/>
          </a:prstGeom>
        </p:spPr>
        <p:txBody>
          <a:bodyPr vert="horz" lIns="94767" tIns="47383" rIns="94767" bIns="4738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20725"/>
            <a:ext cx="575627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7" tIns="47383" rIns="94767" bIns="4738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2" y="4560571"/>
            <a:ext cx="5852160" cy="4320540"/>
          </a:xfrm>
          <a:prstGeom prst="rect">
            <a:avLst/>
          </a:prstGeom>
        </p:spPr>
        <p:txBody>
          <a:bodyPr vert="horz" lIns="94767" tIns="47383" rIns="94767" bIns="4738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6"/>
            <a:ext cx="3169920" cy="480060"/>
          </a:xfrm>
          <a:prstGeom prst="rect">
            <a:avLst/>
          </a:prstGeom>
        </p:spPr>
        <p:txBody>
          <a:bodyPr vert="horz" lIns="94767" tIns="47383" rIns="94767" bIns="4738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6"/>
            <a:ext cx="3169920" cy="480060"/>
          </a:xfrm>
          <a:prstGeom prst="rect">
            <a:avLst/>
          </a:prstGeom>
        </p:spPr>
        <p:txBody>
          <a:bodyPr vert="horz" lIns="94767" tIns="47383" rIns="94767" bIns="4738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F7FAAD8-CAE9-474F-80FF-8F1761DCC0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7966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5" algn="l" defTabSz="9143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86" algn="l" defTabSz="9143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66" algn="l" defTabSz="9143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48" algn="l" defTabSz="9143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715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F7FAAD8-CAE9-474F-80FF-8F1761DCC0AE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303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7FAAD8-CAE9-474F-80FF-8F1761DCC0AE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715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6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43AD33-3F82-4C19-9B83-7261C4AF79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2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43AD33-3F82-4C19-9B83-7261C4AF79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74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B92475-1994-407E-B991-1150DC50793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353703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43AD33-3F82-4C19-9B83-7261C4AF79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90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2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279262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43AD33-3F82-4C19-9B83-7261C4AF79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23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66ED06-ADEC-4ED7-A1C4-6F5F6738B81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152288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AF84CA-26F2-4D60-A432-6F5FAC86305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135102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27543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43AD33-3F82-4C19-9B83-7261C4AF79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74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43AD33-3F82-4C19-9B83-7261C4AF79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110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43AD33-3F82-4C19-9B83-7261C4AF79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19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4064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4064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43AD33-3F82-4C19-9B83-7261C4AF79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830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2368"/>
            <a:ext cx="6858000" cy="5331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166CCD-9840-4285-B26E-C373308F4607}" type="slidenum">
              <a:rPr lang="en-US" altLang="en-US"/>
              <a:pPr>
                <a:defRPr/>
              </a:pPr>
              <a:t>‹#›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E:\source\Bharat electronics\BEL\2000px-Bharat_Electronics_logo.svg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75513" y="263296"/>
            <a:ext cx="1676400" cy="371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 userDrawn="1"/>
        </p:nvGrpSpPr>
        <p:grpSpPr>
          <a:xfrm>
            <a:off x="152400" y="660694"/>
            <a:ext cx="8841682" cy="181740"/>
            <a:chOff x="457200" y="783758"/>
            <a:chExt cx="9289288" cy="261706"/>
          </a:xfrm>
          <a:solidFill>
            <a:srgbClr val="19C3FF"/>
          </a:solidFill>
        </p:grpSpPr>
        <p:sp>
          <p:nvSpPr>
            <p:cNvPr id="6" name="Rectangle 5"/>
            <p:cNvSpPr/>
            <p:nvPr/>
          </p:nvSpPr>
          <p:spPr>
            <a:xfrm>
              <a:off x="457200" y="990600"/>
              <a:ext cx="9289288" cy="548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ight Triangle 7"/>
            <p:cNvSpPr/>
            <p:nvPr/>
          </p:nvSpPr>
          <p:spPr>
            <a:xfrm>
              <a:off x="457200" y="783758"/>
              <a:ext cx="206844" cy="20684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377BC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806620"/>
            <a:ext cx="6934200" cy="3810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77BCD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29659C-4511-43ED-BB93-4246E9669B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52400" y="127000"/>
            <a:ext cx="8841682" cy="5502088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92000"/>
                </a:schemeClr>
              </a:gs>
              <a:gs pos="0">
                <a:srgbClr val="B7ECFF">
                  <a:alpha val="69000"/>
                  <a:lumMod val="36000"/>
                  <a:lumOff val="64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8" descr="E:\source\Bharat electronics\BEL\2000px-Bharat_Electronics_logo.svg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75513" y="263296"/>
            <a:ext cx="1676400" cy="371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27"/>
          <p:cNvGrpSpPr/>
          <p:nvPr userDrawn="1"/>
        </p:nvGrpSpPr>
        <p:grpSpPr>
          <a:xfrm>
            <a:off x="152400" y="660694"/>
            <a:ext cx="8841682" cy="181740"/>
            <a:chOff x="457200" y="783758"/>
            <a:chExt cx="9289288" cy="261706"/>
          </a:xfrm>
          <a:solidFill>
            <a:srgbClr val="19C3FF"/>
          </a:solidFill>
        </p:grpSpPr>
        <p:sp>
          <p:nvSpPr>
            <p:cNvPr id="8" name="Rectangle 7"/>
            <p:cNvSpPr/>
            <p:nvPr/>
          </p:nvSpPr>
          <p:spPr>
            <a:xfrm>
              <a:off x="457200" y="990600"/>
              <a:ext cx="9289288" cy="548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9" name="Right Triangle 8"/>
            <p:cNvSpPr/>
            <p:nvPr/>
          </p:nvSpPr>
          <p:spPr>
            <a:xfrm>
              <a:off x="457200" y="783758"/>
              <a:ext cx="206844" cy="20684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377BC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65265" y="762001"/>
            <a:ext cx="7016750" cy="363802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77BCD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HR for Non HR Executives, IIMK, 4th to 8th July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343AD33-3F82-4C19-9B83-7261C4AF79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52400" y="127000"/>
            <a:ext cx="8841682" cy="5502088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92000"/>
                </a:schemeClr>
              </a:gs>
              <a:gs pos="0">
                <a:srgbClr val="B7ECFF">
                  <a:alpha val="69000"/>
                  <a:lumMod val="36000"/>
                  <a:lumOff val="64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97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9" r:id="rId12"/>
    <p:sldLayoutId id="2147483692" r:id="rId13"/>
    <p:sldLayoutId id="2147483693" r:id="rId14"/>
  </p:sldLayoutIdLst>
  <p:transition spd="med"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152400" y="404839"/>
            <a:ext cx="8842375" cy="182563"/>
            <a:chOff x="0" y="0"/>
            <a:chExt cx="9289288" cy="261706"/>
          </a:xfrm>
        </p:grpSpPr>
        <p:sp>
          <p:nvSpPr>
            <p:cNvPr id="21592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1593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94" name="Rectangle 93"/>
          <p:cNvSpPr/>
          <p:nvPr/>
        </p:nvSpPr>
        <p:spPr>
          <a:xfrm>
            <a:off x="258445" y="87376"/>
            <a:ext cx="6861819" cy="461661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IN" sz="2400" b="1" dirty="0" smtClean="0">
                <a:solidFill>
                  <a:srgbClr val="C00000"/>
                </a:solidFill>
                <a:latin typeface="Calibri" pitchFamily="34" charset="0"/>
              </a:rPr>
              <a:t>Project – Exam Simulator </a:t>
            </a:r>
            <a:endParaRPr lang="en-US" sz="24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E95D2AC-D2B3-3060-4B34-8C5FA0C8952D}"/>
              </a:ext>
            </a:extLst>
          </p:cNvPr>
          <p:cNvSpPr txBox="1"/>
          <p:nvPr/>
        </p:nvSpPr>
        <p:spPr>
          <a:xfrm>
            <a:off x="152400" y="662041"/>
            <a:ext cx="8991600" cy="2044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b="1" dirty="0">
                <a:solidFill>
                  <a:srgbClr val="C00000"/>
                </a:solidFill>
                <a:latin typeface="Calibri" pitchFamily="34" charset="0"/>
              </a:rPr>
              <a:t>Project Purpose :	</a:t>
            </a:r>
            <a:r>
              <a:rPr lang="en-US" sz="1600" dirty="0">
                <a:solidFill>
                  <a:srgbClr val="1F497D"/>
                </a:solidFill>
                <a:latin typeface="Calibri" pitchFamily="34" charset="0"/>
              </a:rPr>
              <a:t>To build a robust system that to simulate and fetch questions from database.</a:t>
            </a:r>
          </a:p>
          <a:p>
            <a:pPr lvl="1">
              <a:lnSpc>
                <a:spcPts val="1900"/>
              </a:lnSpc>
            </a:pPr>
            <a:endParaRPr lang="en-IN" sz="1600" b="1" dirty="0">
              <a:solidFill>
                <a:srgbClr val="C00000"/>
              </a:solidFill>
              <a:latin typeface="Calibri" pitchFamily="34" charset="0"/>
            </a:endParaRPr>
          </a:p>
          <a:p>
            <a:pPr>
              <a:lnSpc>
                <a:spcPts val="1900"/>
              </a:lnSpc>
            </a:pPr>
            <a:r>
              <a:rPr lang="en-IN" sz="1600" b="1" dirty="0">
                <a:solidFill>
                  <a:srgbClr val="C00000"/>
                </a:solidFill>
                <a:latin typeface="Calibri" pitchFamily="34" charset="0"/>
              </a:rPr>
              <a:t>Project Guidance by:      </a:t>
            </a:r>
            <a:r>
              <a:rPr lang="en-IN" sz="1600" dirty="0">
                <a:solidFill>
                  <a:srgbClr val="1F497D"/>
                </a:solidFill>
                <a:latin typeface="Calibri" pitchFamily="34" charset="0"/>
              </a:rPr>
              <a:t>Mr .Raju </a:t>
            </a:r>
            <a:r>
              <a:rPr lang="en-IN" sz="1600" dirty="0" smtClean="0">
                <a:solidFill>
                  <a:srgbClr val="1F497D"/>
                </a:solidFill>
                <a:latin typeface="Calibri" pitchFamily="34" charset="0"/>
              </a:rPr>
              <a:t>GMK	</a:t>
            </a:r>
            <a:endParaRPr lang="en-IN" sz="1600" dirty="0">
              <a:solidFill>
                <a:srgbClr val="1F497D"/>
              </a:solidFill>
              <a:latin typeface="Calibri" pitchFamily="34" charset="0"/>
            </a:endParaRPr>
          </a:p>
          <a:p>
            <a:pPr>
              <a:lnSpc>
                <a:spcPts val="1900"/>
              </a:lnSpc>
            </a:pPr>
            <a:r>
              <a:rPr lang="en-US" b="1" dirty="0" smtClean="0">
                <a:solidFill>
                  <a:srgbClr val="C00000"/>
                </a:solidFill>
                <a:latin typeface="Calibri" pitchFamily="34" charset="0"/>
              </a:rPr>
              <a:t>				     </a:t>
            </a:r>
            <a:r>
              <a:rPr lang="en-IN" b="1" dirty="0" smtClean="0">
                <a:solidFill>
                  <a:srgbClr val="C00000"/>
                </a:solidFill>
                <a:latin typeface="Calibri" pitchFamily="34" charset="0"/>
              </a:rPr>
              <a:t>Project </a:t>
            </a:r>
            <a:r>
              <a:rPr lang="en-IN" b="1" dirty="0">
                <a:solidFill>
                  <a:srgbClr val="C00000"/>
                </a:solidFill>
                <a:latin typeface="Calibri" pitchFamily="34" charset="0"/>
              </a:rPr>
              <a:t>word load distribution: </a:t>
            </a:r>
          </a:p>
          <a:p>
            <a:pPr>
              <a:lnSpc>
                <a:spcPts val="1900"/>
              </a:lnSpc>
            </a:pPr>
            <a:endParaRPr lang="en-IN" b="1" dirty="0">
              <a:solidFill>
                <a:srgbClr val="C00000"/>
              </a:solidFill>
              <a:latin typeface="Calibri" pitchFamily="34" charset="0"/>
            </a:endParaRPr>
          </a:p>
          <a:p>
            <a:pPr>
              <a:lnSpc>
                <a:spcPts val="1900"/>
              </a:lnSpc>
            </a:pPr>
            <a:r>
              <a:rPr lang="en-IN" sz="1600" b="1" dirty="0">
                <a:solidFill>
                  <a:srgbClr val="C00000"/>
                </a:solidFill>
                <a:latin typeface="Calibri" pitchFamily="34" charset="0"/>
              </a:rPr>
              <a:t>Team </a:t>
            </a:r>
            <a:r>
              <a:rPr lang="en-IN" sz="1600" b="1" dirty="0" smtClean="0">
                <a:solidFill>
                  <a:srgbClr val="C00000"/>
                </a:solidFill>
                <a:latin typeface="Calibri" pitchFamily="34" charset="0"/>
              </a:rPr>
              <a:t>Size:     </a:t>
            </a:r>
            <a:r>
              <a:rPr lang="en-IN" sz="1600" dirty="0" smtClean="0">
                <a:solidFill>
                  <a:srgbClr val="1F497D"/>
                </a:solidFill>
                <a:latin typeface="Calibri" pitchFamily="34" charset="0"/>
              </a:rPr>
              <a:t>10			</a:t>
            </a:r>
            <a:endParaRPr lang="en-IN" sz="1600" dirty="0">
              <a:solidFill>
                <a:srgbClr val="1F497D"/>
              </a:solidFill>
              <a:latin typeface="Calibri" pitchFamily="34" charset="0"/>
            </a:endParaRPr>
          </a:p>
          <a:p>
            <a:pPr>
              <a:lnSpc>
                <a:spcPts val="1900"/>
              </a:lnSpc>
            </a:pPr>
            <a:r>
              <a:rPr lang="en-US" b="1" dirty="0" smtClean="0">
                <a:solidFill>
                  <a:srgbClr val="C00000"/>
                </a:solidFill>
                <a:latin typeface="Calibri" pitchFamily="34" charset="0"/>
              </a:rPr>
              <a:t>				</a:t>
            </a:r>
            <a:endParaRPr lang="en-IN" sz="2000" b="1" dirty="0">
              <a:solidFill>
                <a:srgbClr val="C00000"/>
              </a:solidFill>
              <a:latin typeface="Calibri" pitchFamily="34" charset="0"/>
            </a:endParaRPr>
          </a:p>
          <a:p>
            <a:pPr>
              <a:lnSpc>
                <a:spcPts val="1900"/>
              </a:lnSpc>
            </a:pPr>
            <a:endParaRPr lang="en-IN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86799" y="5295900"/>
            <a:ext cx="307975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1</a:t>
            </a:r>
            <a:endParaRPr lang="en-US" sz="18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753879"/>
              </p:ext>
            </p:extLst>
          </p:nvPr>
        </p:nvGraphicFramePr>
        <p:xfrm>
          <a:off x="2590800" y="1714500"/>
          <a:ext cx="6095999" cy="3870986"/>
        </p:xfrm>
        <a:graphic>
          <a:graphicData uri="http://schemas.openxmlformats.org/drawingml/2006/table">
            <a:tbl>
              <a:tblPr/>
              <a:tblGrid>
                <a:gridCol w="4156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3127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0054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083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87036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6074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SI No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Name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Staff No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Designation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Role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Activity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5141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Sandhya P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83008568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GAPP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SW Developer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workout plan,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Class Diagram,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Final Validation,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Presentation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877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 Vani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83008980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GAPP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SW Developer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Abstract ,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Design approach,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 Case Diagram,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Test Plan,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Software Framework analysis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5141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Parvathi  B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83008112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GAPP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SW Developer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Requirement Analysis,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Flowchart,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Design Aspects,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u="none" strike="noStrike" dirty="0">
                          <a:effectLst/>
                          <a:latin typeface="+mn-lt"/>
                        </a:rPr>
                        <a:t>Source code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512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Anand Meti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            </a:t>
                      </a:r>
                    </a:p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83008505</a:t>
                      </a:r>
                      <a:b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GAPP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SW Developer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Work Environment,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Release and Deployment,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Integration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512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Veeresh Patil G B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83008521</a:t>
                      </a:r>
                      <a:b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GAPP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SW Developer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Deployment ,</a:t>
                      </a:r>
                      <a:b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Lesson Learnt Logs ,</a:t>
                      </a:r>
                      <a:b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Presentation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512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Bhavana H N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83008560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GAPP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SW Developer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Activity diagram,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Best Practices,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Unit Test Cases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5141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Bindhu H S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83008544</a:t>
                      </a:r>
                      <a:b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GAPP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SW Developer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Sequence Diagram,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Risk Log Updated,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Issues Log Updates 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Functional Qualification Testing</a:t>
                      </a:r>
                    </a:p>
                  </a:txBody>
                  <a:tcPr marL="6297" marR="6297" marT="62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905305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A6CF461-71F7-2666-50F3-7ECA2CEA9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2" y="404839"/>
            <a:ext cx="8842375" cy="182563"/>
            <a:chOff x="0" y="0"/>
            <a:chExt cx="9289288" cy="261706"/>
          </a:xfrm>
        </p:grpSpPr>
        <p:sp>
          <p:nvSpPr>
            <p:cNvPr id="21592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1593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2" name="Rectangle 2">
            <a:extLst>
              <a:ext uri="{FF2B5EF4-FFF2-40B4-BE49-F238E27FC236}">
                <a16:creationId xmlns:a16="http://schemas.microsoft.com/office/drawing/2014/main" xmlns="" id="{2871E822-B4B3-DE7F-8241-11EF45BBB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xmlns="" id="{55595718-2BDF-ADB7-C19A-FC37238FD158}"/>
              </a:ext>
            </a:extLst>
          </p:cNvPr>
          <p:cNvSpPr/>
          <p:nvPr/>
        </p:nvSpPr>
        <p:spPr>
          <a:xfrm>
            <a:off x="529581" y="106559"/>
            <a:ext cx="4697368" cy="4616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IN" sz="2400" b="1" dirty="0">
                <a:solidFill>
                  <a:srgbClr val="C00000"/>
                </a:solidFill>
                <a:latin typeface="Calibri" pitchFamily="34" charset="0"/>
              </a:rPr>
              <a:t>Project Domain &amp; Technology Stack</a:t>
            </a:r>
            <a:endParaRPr lang="en-US" sz="24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0303F5C-A94D-399E-53FD-B9D73FF45647}"/>
              </a:ext>
            </a:extLst>
          </p:cNvPr>
          <p:cNvSpPr txBox="1"/>
          <p:nvPr/>
        </p:nvSpPr>
        <p:spPr>
          <a:xfrm>
            <a:off x="304800" y="952500"/>
            <a:ext cx="80010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C00000"/>
                </a:solidFill>
                <a:latin typeface="+mn-lt"/>
              </a:rPr>
              <a:t>Domain:  </a:t>
            </a:r>
          </a:p>
          <a:p>
            <a:pPr marL="742931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1F497D"/>
                </a:solidFill>
                <a:latin typeface="+mn-lt"/>
              </a:rPr>
              <a:t>JAVA </a:t>
            </a:r>
            <a:r>
              <a:rPr lang="en-IN" b="1" dirty="0" smtClean="0">
                <a:solidFill>
                  <a:srgbClr val="1F497D"/>
                </a:solidFill>
                <a:latin typeface="+mn-lt"/>
              </a:rPr>
              <a:t>Application       Version_1.0</a:t>
            </a:r>
            <a:r>
              <a:rPr lang="en-IN" b="1" dirty="0">
                <a:solidFill>
                  <a:srgbClr val="1F497D"/>
                </a:solidFill>
                <a:latin typeface="+mn-lt"/>
              </a:rPr>
              <a:t>, dated </a:t>
            </a:r>
            <a:r>
              <a:rPr lang="en-IN" b="1" dirty="0" smtClean="0">
                <a:solidFill>
                  <a:srgbClr val="1F497D"/>
                </a:solidFill>
                <a:latin typeface="+mn-lt"/>
              </a:rPr>
              <a:t>28 </a:t>
            </a:r>
            <a:r>
              <a:rPr lang="en-IN" b="1" dirty="0">
                <a:solidFill>
                  <a:srgbClr val="1F497D"/>
                </a:solidFill>
                <a:latin typeface="+mn-lt"/>
              </a:rPr>
              <a:t>Nov </a:t>
            </a:r>
            <a:r>
              <a:rPr lang="en-IN" b="1" dirty="0" smtClean="0">
                <a:solidFill>
                  <a:srgbClr val="1F497D"/>
                </a:solidFill>
                <a:latin typeface="+mn-lt"/>
              </a:rPr>
              <a:t>25</a:t>
            </a:r>
            <a:endParaRPr lang="en-IN" sz="2400" b="1" dirty="0">
              <a:solidFill>
                <a:srgbClr val="1F497D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C00000"/>
                </a:solidFill>
                <a:latin typeface="+mn-lt"/>
              </a:rPr>
              <a:t>Technology Stack :</a:t>
            </a:r>
          </a:p>
          <a:p>
            <a:pPr marL="742931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 dirty="0">
                <a:latin typeface="+mn-lt"/>
              </a:rPr>
              <a:t>Operating System:</a:t>
            </a:r>
            <a:r>
              <a:rPr lang="en-IN" sz="1600" dirty="0">
                <a:latin typeface="+mn-lt"/>
              </a:rPr>
              <a:t> Windows 10/11 </a:t>
            </a:r>
            <a:endParaRPr lang="en-IN" sz="1600" dirty="0" smtClean="0">
              <a:latin typeface="+mn-lt"/>
            </a:endParaRPr>
          </a:p>
          <a:p>
            <a:pPr marL="742931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 dirty="0" smtClean="0">
                <a:latin typeface="+mn-lt"/>
              </a:rPr>
              <a:t>Programming </a:t>
            </a:r>
            <a:r>
              <a:rPr lang="en-IN" sz="1600" b="1" dirty="0">
                <a:latin typeface="+mn-lt"/>
              </a:rPr>
              <a:t>Language:</a:t>
            </a:r>
            <a:r>
              <a:rPr lang="en-IN" sz="1600" dirty="0">
                <a:latin typeface="+mn-lt"/>
              </a:rPr>
              <a:t> JAVA (Version 17.0.11) </a:t>
            </a:r>
            <a:endParaRPr lang="en-IN" sz="1600" dirty="0" smtClean="0">
              <a:latin typeface="+mn-lt"/>
            </a:endParaRPr>
          </a:p>
          <a:p>
            <a:pPr marL="742931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 dirty="0" smtClean="0">
                <a:latin typeface="+mn-lt"/>
              </a:rPr>
              <a:t>Frontend</a:t>
            </a:r>
            <a:r>
              <a:rPr lang="en-IN" sz="1600" b="1" dirty="0">
                <a:latin typeface="+mn-lt"/>
              </a:rPr>
              <a:t>:</a:t>
            </a:r>
            <a:r>
              <a:rPr lang="en-IN" sz="1600" dirty="0">
                <a:latin typeface="+mn-lt"/>
              </a:rPr>
              <a:t> Java Swing (Version 17.0.11</a:t>
            </a:r>
            <a:r>
              <a:rPr lang="en-IN" sz="1600" dirty="0" smtClean="0">
                <a:latin typeface="+mn-lt"/>
              </a:rPr>
              <a:t>)</a:t>
            </a:r>
          </a:p>
          <a:p>
            <a:pPr marL="742931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 dirty="0" smtClean="0">
                <a:latin typeface="+mn-lt"/>
              </a:rPr>
              <a:t>Backend</a:t>
            </a:r>
            <a:r>
              <a:rPr lang="en-IN" sz="1600" dirty="0">
                <a:latin typeface="+mn-lt"/>
              </a:rPr>
              <a:t>: JAVA(Version 17.0.11)</a:t>
            </a:r>
            <a:endParaRPr lang="en-IN" sz="1600" b="1" dirty="0" smtClean="0">
              <a:latin typeface="+mn-lt"/>
            </a:endParaRPr>
          </a:p>
          <a:p>
            <a:pPr marL="742931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 dirty="0" smtClean="0">
                <a:latin typeface="+mn-lt"/>
              </a:rPr>
              <a:t>IDE</a:t>
            </a:r>
            <a:r>
              <a:rPr lang="en-IN" sz="1600" b="1" dirty="0">
                <a:latin typeface="+mn-lt"/>
              </a:rPr>
              <a:t>:</a:t>
            </a:r>
            <a:r>
              <a:rPr lang="en-IN" sz="1600" dirty="0">
                <a:latin typeface="+mn-lt"/>
              </a:rPr>
              <a:t> IntelliJ IDEA (Version 21.0.7)</a:t>
            </a:r>
            <a:endParaRPr lang="en-IN" sz="1600" dirty="0" smtClean="0">
              <a:latin typeface="+mn-lt"/>
            </a:endParaRPr>
          </a:p>
          <a:p>
            <a:pPr marL="742931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 dirty="0" smtClean="0">
                <a:latin typeface="+mn-lt"/>
              </a:rPr>
              <a:t>Database</a:t>
            </a:r>
            <a:r>
              <a:rPr lang="en-IN" sz="1600" b="1" dirty="0">
                <a:latin typeface="+mn-lt"/>
              </a:rPr>
              <a:t>:</a:t>
            </a:r>
            <a:r>
              <a:rPr lang="en-IN" sz="1600" dirty="0">
                <a:latin typeface="+mn-lt"/>
              </a:rPr>
              <a:t> </a:t>
            </a:r>
            <a:r>
              <a:rPr lang="en-IN" sz="1600" dirty="0" err="1" smtClean="0">
                <a:latin typeface="+mn-lt"/>
              </a:rPr>
              <a:t>PostgreSQL</a:t>
            </a:r>
            <a:r>
              <a:rPr lang="en-IN" sz="1600" dirty="0" smtClean="0">
                <a:latin typeface="+mn-lt"/>
              </a:rPr>
              <a:t> (Version </a:t>
            </a:r>
            <a:r>
              <a:rPr lang="en-IN" sz="1600" dirty="0" smtClean="0"/>
              <a:t>9.6</a:t>
            </a:r>
            <a:r>
              <a:rPr lang="en-IN" sz="1600" dirty="0" smtClean="0">
                <a:latin typeface="+mn-lt"/>
              </a:rPr>
              <a:t>)</a:t>
            </a:r>
            <a:endParaRPr lang="en-IN" sz="1600" dirty="0">
              <a:latin typeface="+mn-lt"/>
            </a:endParaRPr>
          </a:p>
          <a:p>
            <a:pPr marL="742931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 dirty="0" smtClean="0">
                <a:latin typeface="+mn-lt"/>
              </a:rPr>
              <a:t>Data Interchange:</a:t>
            </a:r>
            <a:r>
              <a:rPr lang="en-IN" sz="1600" dirty="0" smtClean="0">
                <a:latin typeface="+mn-lt"/>
              </a:rPr>
              <a:t> </a:t>
            </a:r>
            <a:r>
              <a:rPr lang="en-IN" sz="1600" dirty="0">
                <a:latin typeface="+mn-lt"/>
              </a:rPr>
              <a:t>Microsoft </a:t>
            </a:r>
            <a:r>
              <a:rPr lang="en-IN" sz="1600" dirty="0" smtClean="0">
                <a:latin typeface="+mn-lt"/>
              </a:rPr>
              <a:t>Excel 2010</a:t>
            </a:r>
            <a:endParaRPr lang="en-IN" sz="2000" dirty="0">
              <a:solidFill>
                <a:srgbClr val="1F497D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2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921471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DE421D-FE91-3DA2-E5CB-CEB526020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>
            <a:extLst>
              <a:ext uri="{FF2B5EF4-FFF2-40B4-BE49-F238E27FC236}">
                <a16:creationId xmlns:a16="http://schemas.microsoft.com/office/drawing/2014/main" xmlns="" id="{69E2D819-17D7-3FA5-4EC1-3228E7266A83}"/>
              </a:ext>
            </a:extLst>
          </p:cNvPr>
          <p:cNvGrpSpPr>
            <a:grpSpLocks/>
          </p:cNvGrpSpPr>
          <p:nvPr/>
        </p:nvGrpSpPr>
        <p:grpSpPr bwMode="auto">
          <a:xfrm>
            <a:off x="152402" y="404839"/>
            <a:ext cx="8842375" cy="182563"/>
            <a:chOff x="0" y="0"/>
            <a:chExt cx="9289288" cy="261706"/>
          </a:xfrm>
        </p:grpSpPr>
        <p:sp>
          <p:nvSpPr>
            <p:cNvPr id="21592" name="Rectangle 6">
              <a:extLst>
                <a:ext uri="{FF2B5EF4-FFF2-40B4-BE49-F238E27FC236}">
                  <a16:creationId xmlns:a16="http://schemas.microsoft.com/office/drawing/2014/main" xmlns="" id="{D51113D0-0ABE-D529-25FD-E79E75468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1593" name="Right Triangle 7">
              <a:extLst>
                <a:ext uri="{FF2B5EF4-FFF2-40B4-BE49-F238E27FC236}">
                  <a16:creationId xmlns:a16="http://schemas.microsoft.com/office/drawing/2014/main" xmlns="" id="{F9EF2403-5940-88BB-F224-1C0D4B22F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2" name="Rectangle 2">
            <a:extLst>
              <a:ext uri="{FF2B5EF4-FFF2-40B4-BE49-F238E27FC236}">
                <a16:creationId xmlns:a16="http://schemas.microsoft.com/office/drawing/2014/main" xmlns="" id="{4C7678F5-4E39-A611-8C36-845B6CFE2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xmlns="" id="{1C667BC2-F75B-D918-D642-EA761E1A42A2}"/>
              </a:ext>
            </a:extLst>
          </p:cNvPr>
          <p:cNvSpPr/>
          <p:nvPr/>
        </p:nvSpPr>
        <p:spPr>
          <a:xfrm>
            <a:off x="529583" y="106559"/>
            <a:ext cx="2224255" cy="4616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IN" sz="2400" b="1" dirty="0">
                <a:solidFill>
                  <a:srgbClr val="C00000"/>
                </a:solidFill>
                <a:latin typeface="Calibri" pitchFamily="34" charset="0"/>
              </a:rPr>
              <a:t>Project Abstract</a:t>
            </a:r>
            <a:endParaRPr lang="en-US" sz="24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30C4649-18B0-D4F8-AA5E-FE28A987976F}"/>
              </a:ext>
            </a:extLst>
          </p:cNvPr>
          <p:cNvSpPr txBox="1"/>
          <p:nvPr/>
        </p:nvSpPr>
        <p:spPr>
          <a:xfrm>
            <a:off x="304800" y="769966"/>
            <a:ext cx="84582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+mj-lt"/>
              </a:rPr>
              <a:t>The “Exam Simulator” project delivers </a:t>
            </a:r>
            <a:r>
              <a:rPr lang="en-US" dirty="0" smtClean="0">
                <a:latin typeface="+mj-lt"/>
              </a:rPr>
              <a:t>a simulator dynamically </a:t>
            </a:r>
            <a:r>
              <a:rPr lang="en-US" dirty="0">
                <a:latin typeface="+mj-lt"/>
              </a:rPr>
              <a:t>generate and present multiple-choice questions. Content is efficiently imported from Excel Sheets, enabling question bank updates without code modification. The system provides immediate feedback, offering a cost-effective and accessible learning tool for examiners, with a scalable database structure.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3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223986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DE421D-FE91-3DA2-E5CB-CEB526020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>
            <a:extLst>
              <a:ext uri="{FF2B5EF4-FFF2-40B4-BE49-F238E27FC236}">
                <a16:creationId xmlns:a16="http://schemas.microsoft.com/office/drawing/2014/main" xmlns="" id="{69E2D819-17D7-3FA5-4EC1-3228E7266A83}"/>
              </a:ext>
            </a:extLst>
          </p:cNvPr>
          <p:cNvGrpSpPr>
            <a:grpSpLocks/>
          </p:cNvGrpSpPr>
          <p:nvPr/>
        </p:nvGrpSpPr>
        <p:grpSpPr bwMode="auto">
          <a:xfrm>
            <a:off x="152402" y="404839"/>
            <a:ext cx="8842375" cy="182563"/>
            <a:chOff x="0" y="0"/>
            <a:chExt cx="9289288" cy="261706"/>
          </a:xfrm>
        </p:grpSpPr>
        <p:sp>
          <p:nvSpPr>
            <p:cNvPr id="21592" name="Rectangle 6">
              <a:extLst>
                <a:ext uri="{FF2B5EF4-FFF2-40B4-BE49-F238E27FC236}">
                  <a16:creationId xmlns:a16="http://schemas.microsoft.com/office/drawing/2014/main" xmlns="" id="{D51113D0-0ABE-D529-25FD-E79E75468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1593" name="Right Triangle 7">
              <a:extLst>
                <a:ext uri="{FF2B5EF4-FFF2-40B4-BE49-F238E27FC236}">
                  <a16:creationId xmlns:a16="http://schemas.microsoft.com/office/drawing/2014/main" xmlns="" id="{F9EF2403-5940-88BB-F224-1C0D4B22F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2" name="Rectangle 2">
            <a:extLst>
              <a:ext uri="{FF2B5EF4-FFF2-40B4-BE49-F238E27FC236}">
                <a16:creationId xmlns:a16="http://schemas.microsoft.com/office/drawing/2014/main" xmlns="" id="{4C7678F5-4E39-A611-8C36-845B6CFE2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xmlns="" id="{1C667BC2-F75B-D918-D642-EA761E1A42A2}"/>
              </a:ext>
            </a:extLst>
          </p:cNvPr>
          <p:cNvSpPr/>
          <p:nvPr/>
        </p:nvSpPr>
        <p:spPr>
          <a:xfrm>
            <a:off x="529583" y="106559"/>
            <a:ext cx="5125434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IN" sz="2000" b="1" dirty="0">
                <a:solidFill>
                  <a:srgbClr val="C00000"/>
                </a:solidFill>
                <a:latin typeface="Calibri" pitchFamily="34" charset="0"/>
              </a:rPr>
              <a:t>ntroduction to the Project  (Project Overview)</a:t>
            </a:r>
            <a:endParaRPr lang="en-US" sz="20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647700"/>
            <a:ext cx="8305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+mj-lt"/>
              </a:rPr>
              <a:t>This project develops a dynamic exam simulator designed to help users practice examination concepts. It efficiently loads question and answer data from Excel spreadsheets into a </a:t>
            </a:r>
            <a:r>
              <a:rPr lang="en-US" sz="1600" b="1" dirty="0" smtClean="0">
                <a:latin typeface="+mj-lt"/>
              </a:rPr>
              <a:t> </a:t>
            </a:r>
            <a:r>
              <a:rPr lang="en-US" sz="1600" b="1" dirty="0">
                <a:latin typeface="+mj-lt"/>
              </a:rPr>
              <a:t>PostgreSQL database</a:t>
            </a:r>
            <a:r>
              <a:rPr lang="en-US" sz="1600" dirty="0" smtClean="0">
                <a:latin typeface="+mj-lt"/>
              </a:rPr>
              <a:t>, </a:t>
            </a:r>
            <a:r>
              <a:rPr lang="en-US" sz="1600" dirty="0">
                <a:latin typeface="+mj-lt"/>
              </a:rPr>
              <a:t>forming a comprehensive question bank for multiple-choice quizzes. A user-friendly interface displays these questions, This simulator provides a cost-effective and adaptable tool for learning and assessment, leveraging the power of a efficient database and intuitive user experience.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933700"/>
            <a:ext cx="2286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238500"/>
            <a:ext cx="815340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latin typeface="+mj-lt"/>
              </a:rPr>
              <a:t>Dynamic Question </a:t>
            </a:r>
            <a:r>
              <a:rPr lang="en-US" sz="1600" b="1" dirty="0" smtClean="0">
                <a:latin typeface="+mj-lt"/>
              </a:rPr>
              <a:t>Delivery</a:t>
            </a:r>
            <a:r>
              <a:rPr lang="en-US" sz="1600" b="1" dirty="0">
                <a:latin typeface="+mj-lt"/>
              </a:rPr>
              <a:t>:</a:t>
            </a:r>
            <a:r>
              <a:rPr lang="en-US" sz="1600" dirty="0">
                <a:latin typeface="+mj-lt"/>
              </a:rPr>
              <a:t> Generates quizzes from database, offering varied and non-repetitive practice.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+mj-lt"/>
              </a:rPr>
              <a:t>Excel-Based Content Management:</a:t>
            </a:r>
            <a:r>
              <a:rPr lang="en-US" sz="1600" dirty="0">
                <a:latin typeface="+mj-lt"/>
              </a:rPr>
              <a:t> Enables easy updating of questions and answers via Excel spreadsheets 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+mj-lt"/>
              </a:rPr>
              <a:t>Scalable Database Structure: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smtClean="0">
                <a:latin typeface="+mj-lt"/>
              </a:rPr>
              <a:t>Built on</a:t>
            </a:r>
            <a:r>
              <a:rPr lang="en-US" sz="1600" b="1" dirty="0" smtClean="0">
                <a:latin typeface="+mj-lt"/>
              </a:rPr>
              <a:t> </a:t>
            </a:r>
            <a:r>
              <a:rPr lang="en-US" sz="1600" b="1" dirty="0">
                <a:latin typeface="+mj-lt"/>
              </a:rPr>
              <a:t>PostgreSQL database</a:t>
            </a:r>
            <a:r>
              <a:rPr lang="en-US" sz="1600" dirty="0" smtClean="0">
                <a:latin typeface="+mj-lt"/>
              </a:rPr>
              <a:t>, </a:t>
            </a:r>
            <a:r>
              <a:rPr lang="en-US" sz="1600" dirty="0">
                <a:latin typeface="+mj-lt"/>
              </a:rPr>
              <a:t>allowing for future expansion, personalized learning, and increased question volume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81800" y="528872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4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405839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DE421D-FE91-3DA2-E5CB-CEB526020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>
            <a:extLst>
              <a:ext uri="{FF2B5EF4-FFF2-40B4-BE49-F238E27FC236}">
                <a16:creationId xmlns:a16="http://schemas.microsoft.com/office/drawing/2014/main" xmlns="" id="{69E2D819-17D7-3FA5-4EC1-3228E7266A83}"/>
              </a:ext>
            </a:extLst>
          </p:cNvPr>
          <p:cNvGrpSpPr>
            <a:grpSpLocks/>
          </p:cNvGrpSpPr>
          <p:nvPr/>
        </p:nvGrpSpPr>
        <p:grpSpPr bwMode="auto">
          <a:xfrm>
            <a:off x="152402" y="404839"/>
            <a:ext cx="8842375" cy="182563"/>
            <a:chOff x="0" y="0"/>
            <a:chExt cx="9289288" cy="261706"/>
          </a:xfrm>
        </p:grpSpPr>
        <p:sp>
          <p:nvSpPr>
            <p:cNvPr id="21592" name="Rectangle 6">
              <a:extLst>
                <a:ext uri="{FF2B5EF4-FFF2-40B4-BE49-F238E27FC236}">
                  <a16:creationId xmlns:a16="http://schemas.microsoft.com/office/drawing/2014/main" xmlns="" id="{D51113D0-0ABE-D529-25FD-E79E75468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1593" name="Right Triangle 7">
              <a:extLst>
                <a:ext uri="{FF2B5EF4-FFF2-40B4-BE49-F238E27FC236}">
                  <a16:creationId xmlns:a16="http://schemas.microsoft.com/office/drawing/2014/main" xmlns="" id="{F9EF2403-5940-88BB-F224-1C0D4B22F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2" name="Rectangle 2">
            <a:extLst>
              <a:ext uri="{FF2B5EF4-FFF2-40B4-BE49-F238E27FC236}">
                <a16:creationId xmlns:a16="http://schemas.microsoft.com/office/drawing/2014/main" xmlns="" id="{4C7678F5-4E39-A611-8C36-845B6CFE2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529581" y="106558"/>
            <a:ext cx="2018558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IN" sz="2000" b="1" dirty="0">
                <a:solidFill>
                  <a:srgbClr val="C00000"/>
                </a:solidFill>
                <a:latin typeface="Calibri" pitchFamily="34" charset="0"/>
              </a:rPr>
              <a:t>Project Timelines</a:t>
            </a:r>
            <a:endParaRPr lang="en-US" sz="20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12" name="Rectangle: Rounded Corners 8">
            <a:extLst>
              <a:ext uri="{FF2B5EF4-FFF2-40B4-BE49-F238E27FC236}">
                <a16:creationId xmlns:a16="http://schemas.microsoft.com/office/drawing/2014/main" xmlns="" id="{F546299F-7B9D-D2C3-EAEC-6C00231C4644}"/>
              </a:ext>
            </a:extLst>
          </p:cNvPr>
          <p:cNvSpPr/>
          <p:nvPr/>
        </p:nvSpPr>
        <p:spPr>
          <a:xfrm>
            <a:off x="529581" y="1073867"/>
            <a:ext cx="7700019" cy="571235"/>
          </a:xfrm>
          <a:prstGeom prst="round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Requirement Gathering </a:t>
            </a:r>
            <a:r>
              <a:rPr lang="en-US" sz="1600" dirty="0"/>
              <a:t>(08 Oct 2025 –08 Oct 2025)</a:t>
            </a:r>
            <a:endParaRPr lang="en-IN" sz="1600" dirty="0"/>
          </a:p>
        </p:txBody>
      </p:sp>
      <p:sp>
        <p:nvSpPr>
          <p:cNvPr id="13" name="Rectangle: Rounded Corners 10">
            <a:extLst>
              <a:ext uri="{FF2B5EF4-FFF2-40B4-BE49-F238E27FC236}">
                <a16:creationId xmlns:a16="http://schemas.microsoft.com/office/drawing/2014/main" xmlns="" id="{A0511280-7C0B-B6E3-1C7C-9E030100C101}"/>
              </a:ext>
            </a:extLst>
          </p:cNvPr>
          <p:cNvSpPr/>
          <p:nvPr/>
        </p:nvSpPr>
        <p:spPr>
          <a:xfrm>
            <a:off x="529581" y="1788339"/>
            <a:ext cx="7700019" cy="571235"/>
          </a:xfrm>
          <a:prstGeom prst="round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Planning</a:t>
            </a:r>
            <a:r>
              <a:rPr lang="en-US" dirty="0"/>
              <a:t> </a:t>
            </a:r>
            <a:r>
              <a:rPr lang="en-US" sz="1600" dirty="0"/>
              <a:t>(08 Oct 2025 –  08 Oct 2025)</a:t>
            </a:r>
            <a:endParaRPr lang="en-IN" sz="1600" dirty="0"/>
          </a:p>
        </p:txBody>
      </p:sp>
      <p:sp>
        <p:nvSpPr>
          <p:cNvPr id="14" name="Rectangle: Rounded Corners 11">
            <a:extLst>
              <a:ext uri="{FF2B5EF4-FFF2-40B4-BE49-F238E27FC236}">
                <a16:creationId xmlns:a16="http://schemas.microsoft.com/office/drawing/2014/main" xmlns="" id="{BA578891-E6E9-3922-4CAE-4209FC4759AE}"/>
              </a:ext>
            </a:extLst>
          </p:cNvPr>
          <p:cNvSpPr/>
          <p:nvPr/>
        </p:nvSpPr>
        <p:spPr>
          <a:xfrm>
            <a:off x="529581" y="2514141"/>
            <a:ext cx="7700019" cy="571235"/>
          </a:xfrm>
          <a:prstGeom prst="round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Design</a:t>
            </a:r>
            <a:r>
              <a:rPr lang="en-US" dirty="0"/>
              <a:t> </a:t>
            </a:r>
            <a:r>
              <a:rPr lang="en-US" sz="1600" dirty="0"/>
              <a:t>(09 Oct 2025 – 09 Oct 2025)</a:t>
            </a:r>
            <a:endParaRPr lang="en-IN" sz="1600" dirty="0"/>
          </a:p>
        </p:txBody>
      </p:sp>
      <p:sp>
        <p:nvSpPr>
          <p:cNvPr id="15" name="Rectangle: Rounded Corners 12">
            <a:extLst>
              <a:ext uri="{FF2B5EF4-FFF2-40B4-BE49-F238E27FC236}">
                <a16:creationId xmlns:a16="http://schemas.microsoft.com/office/drawing/2014/main" xmlns="" id="{5E277B31-E940-4130-FA8F-5D53363481BD}"/>
              </a:ext>
            </a:extLst>
          </p:cNvPr>
          <p:cNvSpPr/>
          <p:nvPr/>
        </p:nvSpPr>
        <p:spPr>
          <a:xfrm>
            <a:off x="522347" y="3228613"/>
            <a:ext cx="7707253" cy="571235"/>
          </a:xfrm>
          <a:prstGeom prst="round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Implementation</a:t>
            </a:r>
            <a:r>
              <a:rPr lang="en-US" dirty="0"/>
              <a:t> </a:t>
            </a:r>
            <a:r>
              <a:rPr lang="en-US" sz="1600" dirty="0"/>
              <a:t>(04 Nov 2025)</a:t>
            </a:r>
            <a:endParaRPr lang="en-IN" sz="1600" dirty="0"/>
          </a:p>
        </p:txBody>
      </p:sp>
      <p:sp>
        <p:nvSpPr>
          <p:cNvPr id="16" name="Rectangle: Rounded Corners 13">
            <a:extLst>
              <a:ext uri="{FF2B5EF4-FFF2-40B4-BE49-F238E27FC236}">
                <a16:creationId xmlns:a16="http://schemas.microsoft.com/office/drawing/2014/main" xmlns="" id="{CD47E18F-2946-B81A-D63B-A9FCC3C54E69}"/>
              </a:ext>
            </a:extLst>
          </p:cNvPr>
          <p:cNvSpPr/>
          <p:nvPr/>
        </p:nvSpPr>
        <p:spPr>
          <a:xfrm>
            <a:off x="529581" y="3961675"/>
            <a:ext cx="7707253" cy="571235"/>
          </a:xfrm>
          <a:prstGeom prst="round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Testing</a:t>
            </a:r>
            <a:r>
              <a:rPr lang="en-US" dirty="0"/>
              <a:t> </a:t>
            </a:r>
            <a:r>
              <a:rPr lang="en-US" sz="1600" dirty="0"/>
              <a:t>(18 Nov 2025)</a:t>
            </a:r>
            <a:endParaRPr lang="en-IN" sz="1600" dirty="0"/>
          </a:p>
        </p:txBody>
      </p:sp>
      <p:sp>
        <p:nvSpPr>
          <p:cNvPr id="17" name="Rectangle: Rounded Corners 14">
            <a:extLst>
              <a:ext uri="{FF2B5EF4-FFF2-40B4-BE49-F238E27FC236}">
                <a16:creationId xmlns:a16="http://schemas.microsoft.com/office/drawing/2014/main" xmlns="" id="{714761C2-C7AA-A91B-C201-2A170C181436}"/>
              </a:ext>
            </a:extLst>
          </p:cNvPr>
          <p:cNvSpPr/>
          <p:nvPr/>
        </p:nvSpPr>
        <p:spPr>
          <a:xfrm>
            <a:off x="522347" y="4676147"/>
            <a:ext cx="7714487" cy="571235"/>
          </a:xfrm>
          <a:prstGeom prst="round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Release &amp; Deployment </a:t>
            </a:r>
            <a:r>
              <a:rPr lang="en-US" sz="1600" dirty="0" smtClean="0"/>
              <a:t>(24 Nov </a:t>
            </a:r>
            <a:r>
              <a:rPr lang="en-US" sz="1600" dirty="0"/>
              <a:t>2025)</a:t>
            </a:r>
            <a:endParaRPr lang="en-I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705600" y="5295900"/>
            <a:ext cx="2209800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 5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073856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152402" y="404839"/>
            <a:ext cx="8842375" cy="182563"/>
            <a:chOff x="0" y="0"/>
            <a:chExt cx="9289288" cy="261706"/>
          </a:xfrm>
        </p:grpSpPr>
        <p:sp>
          <p:nvSpPr>
            <p:cNvPr id="21592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1593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C9E2D76-C308-EF96-87AF-9A62CA9E308E}"/>
              </a:ext>
            </a:extLst>
          </p:cNvPr>
          <p:cNvSpPr txBox="1"/>
          <p:nvPr/>
        </p:nvSpPr>
        <p:spPr>
          <a:xfrm>
            <a:off x="152400" y="800100"/>
            <a:ext cx="848995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latin typeface="+mn-lt"/>
              </a:rPr>
              <a:t>Login UI (REQ_01)</a:t>
            </a:r>
          </a:p>
          <a:p>
            <a:pPr marL="742931" lvl="1" indent="-285750" algn="just">
              <a:buFont typeface="Arial" pitchFamily="34" charset="0"/>
              <a:buChar char="•"/>
            </a:pPr>
            <a:r>
              <a:rPr lang="en-US" sz="1400" dirty="0">
                <a:latin typeface="+mn-lt"/>
              </a:rPr>
              <a:t>login page is displayed.</a:t>
            </a:r>
          </a:p>
          <a:p>
            <a:pPr marL="342900" indent="-342900">
              <a:buFontTx/>
              <a:buAutoNum type="arabicPeriod"/>
            </a:pPr>
            <a:r>
              <a:rPr lang="en-US" sz="1400" dirty="0">
                <a:latin typeface="+mn-lt"/>
              </a:rPr>
              <a:t>Admin login /Student login (REQ_02)</a:t>
            </a:r>
          </a:p>
          <a:p>
            <a:pPr marL="742931" lvl="1" indent="-285750" algn="just">
              <a:buFont typeface="Arial" pitchFamily="34" charset="0"/>
              <a:buChar char="•"/>
            </a:pPr>
            <a:r>
              <a:rPr lang="en-US" sz="1400" dirty="0">
                <a:latin typeface="+mn-lt"/>
              </a:rPr>
              <a:t>Enter the valid username and password.</a:t>
            </a:r>
          </a:p>
          <a:p>
            <a:pPr marL="742931" lvl="1" indent="-285750" algn="just">
              <a:buFont typeface="Arial" pitchFamily="34" charset="0"/>
              <a:buChar char="•"/>
            </a:pPr>
            <a:r>
              <a:rPr lang="en-US" sz="1400" dirty="0">
                <a:latin typeface="+mn-lt"/>
              </a:rPr>
              <a:t>For student login Select exam type (training or exam mode) Login to take the assessment.</a:t>
            </a:r>
          </a:p>
          <a:p>
            <a:pPr marL="742931" lvl="1" indent="-285750" algn="just">
              <a:buFont typeface="Arial" pitchFamily="34" charset="0"/>
              <a:buChar char="•"/>
            </a:pPr>
            <a:r>
              <a:rPr lang="en-US" sz="1400" dirty="0">
                <a:latin typeface="+mn-lt"/>
              </a:rPr>
              <a:t>For admin login , admin can upload the excel file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latin typeface="+mn-lt"/>
              </a:rPr>
              <a:t>Uploading excel file to DB (REQ_03)</a:t>
            </a:r>
          </a:p>
          <a:p>
            <a:pPr marL="742931" lvl="1" indent="-285750" algn="just">
              <a:buFont typeface="Arial" pitchFamily="34" charset="0"/>
              <a:buChar char="•"/>
            </a:pPr>
            <a:r>
              <a:rPr lang="en-US" sz="1400" dirty="0">
                <a:latin typeface="+mn-lt"/>
              </a:rPr>
              <a:t>The admin browses the excel file.</a:t>
            </a:r>
          </a:p>
          <a:p>
            <a:pPr marL="742931" lvl="1" indent="-285750" algn="just">
              <a:buFont typeface="Arial" pitchFamily="34" charset="0"/>
              <a:buChar char="•"/>
            </a:pPr>
            <a:r>
              <a:rPr lang="en-US" sz="1400" dirty="0">
                <a:latin typeface="+mn-lt"/>
              </a:rPr>
              <a:t>Checks for DB connection and validates the file.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latin typeface="+mn-lt"/>
              </a:rPr>
              <a:t>Question Presentation (REQ_04)</a:t>
            </a:r>
          </a:p>
          <a:p>
            <a:pPr marL="742931" lvl="1" indent="-285750" algn="just">
              <a:buFont typeface="Arial" pitchFamily="34" charset="0"/>
              <a:buChar char="•"/>
            </a:pPr>
            <a:r>
              <a:rPr lang="en-US" sz="1400" dirty="0">
                <a:latin typeface="+mn-lt"/>
              </a:rPr>
              <a:t>Questions are fetched from DB and displayed In the UI.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latin typeface="+mn-lt"/>
              </a:rPr>
              <a:t>Answer Selection (REQ_05)</a:t>
            </a:r>
          </a:p>
          <a:p>
            <a:pPr marL="628631" lvl="1" indent="-171450" algn="just">
              <a:buFont typeface="Arial" pitchFamily="34" charset="0"/>
              <a:buChar char="•"/>
            </a:pPr>
            <a:r>
              <a:rPr lang="en-US" sz="1400" dirty="0">
                <a:latin typeface="+mn-lt"/>
              </a:rPr>
              <a:t>In training mode if user selects an option ,explanation is displayed.</a:t>
            </a:r>
          </a:p>
          <a:p>
            <a:pPr marL="628631" lvl="1" indent="-171450" algn="just">
              <a:buFont typeface="Arial" pitchFamily="34" charset="0"/>
              <a:buChar char="•"/>
            </a:pPr>
            <a:r>
              <a:rPr lang="en-US" sz="1400" dirty="0">
                <a:latin typeface="+mn-lt"/>
              </a:rPr>
              <a:t>In exam mode , the user takes the assessment.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latin typeface="+mn-lt"/>
              </a:rPr>
              <a:t>Navigation Control (REQ_06)</a:t>
            </a:r>
          </a:p>
          <a:p>
            <a:pPr marL="628631" lvl="1" indent="-171450" algn="just">
              <a:buFont typeface="Arial" pitchFamily="34" charset="0"/>
              <a:buChar char="•"/>
            </a:pPr>
            <a:r>
              <a:rPr lang="en-US" sz="1400" dirty="0">
                <a:latin typeface="+mn-lt"/>
              </a:rPr>
              <a:t>The first and last buttons navigate to first and last question respectively.</a:t>
            </a:r>
          </a:p>
          <a:p>
            <a:pPr marL="628631" lvl="1" indent="-171450" algn="just">
              <a:buFont typeface="Arial" pitchFamily="34" charset="0"/>
              <a:buChar char="•"/>
            </a:pPr>
            <a:r>
              <a:rPr lang="en-US" sz="1400" dirty="0">
                <a:latin typeface="+mn-lt"/>
              </a:rPr>
              <a:t>The middle buttons navigate to previous or next question.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latin typeface="+mn-lt"/>
              </a:rPr>
              <a:t>Feedback Display(REQ_07)</a:t>
            </a:r>
          </a:p>
          <a:p>
            <a:pPr marL="628631" lvl="1" indent="-171450" algn="just">
              <a:buFont typeface="Arial" pitchFamily="34" charset="0"/>
              <a:buChar char="•"/>
            </a:pPr>
            <a:r>
              <a:rPr lang="en-US" sz="1400" dirty="0">
                <a:latin typeface="+mn-lt"/>
              </a:rPr>
              <a:t>When user select submit button the result panel will display </a:t>
            </a:r>
            <a:endParaRPr lang="en-US" sz="1400" dirty="0" smtClean="0">
              <a:latin typeface="+mn-lt"/>
            </a:endParaRPr>
          </a:p>
          <a:p>
            <a:pPr lvl="1" algn="just"/>
            <a:endParaRPr lang="en-US" sz="1400" dirty="0">
              <a:latin typeface="+mn-lt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356872" y="148932"/>
            <a:ext cx="2487211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IN" sz="2000" b="1" dirty="0">
                <a:solidFill>
                  <a:srgbClr val="C00000"/>
                </a:solidFill>
                <a:latin typeface="Calibri" pitchFamily="34" charset="0"/>
              </a:rPr>
              <a:t>Project Requirements</a:t>
            </a:r>
            <a:endParaRPr lang="en-US" sz="20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6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583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57015"/>
            <a:ext cx="2594035" cy="400105"/>
          </a:xfrm>
        </p:spPr>
        <p:txBody>
          <a:bodyPr wrap="none" lIns="91436" tIns="45718" rIns="91436" bIns="45718">
            <a:spAutoFit/>
          </a:bodyPr>
          <a:lstStyle/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+mn-ea"/>
                <a:cs typeface="Arial" charset="0"/>
              </a:rPr>
              <a:t>Project Design Aspects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00100"/>
            <a:ext cx="86106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Design aspects associated with Exam Simulator :</a:t>
            </a:r>
          </a:p>
          <a:p>
            <a:endParaRPr lang="en-US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</a:rPr>
              <a:t>Flow Chart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</a:rPr>
              <a:t>Activity Diagram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</a:rPr>
              <a:t>Use Case Diagram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</a:rPr>
              <a:t>Class Diagram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</a:rPr>
              <a:t>Sequence Diagram</a:t>
            </a: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95300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781800" y="5295900"/>
            <a:ext cx="2153478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7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655158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770" y="63768"/>
            <a:ext cx="6858000" cy="279132"/>
          </a:xfrm>
          <a:ln w="9525">
            <a:noFill/>
          </a:ln>
        </p:spPr>
        <p:txBody>
          <a:bodyPr>
            <a:noAutofit/>
          </a:bodyPr>
          <a:lstStyle/>
          <a:p>
            <a:pPr algn="l"/>
            <a:r>
              <a:rPr lang="en-IN" sz="18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Flowchart</a:t>
            </a:r>
            <a:endParaRPr lang="en-IN" sz="1800" b="1" dirty="0">
              <a:solidFill>
                <a:srgbClr val="C0000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135" name="Flowchart: Data 134"/>
          <p:cNvSpPr/>
          <p:nvPr/>
        </p:nvSpPr>
        <p:spPr>
          <a:xfrm>
            <a:off x="457200" y="3924300"/>
            <a:ext cx="1056436" cy="304800"/>
          </a:xfrm>
          <a:prstGeom prst="flowChartInputOutpu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>
                <a:cs typeface="Arial" pitchFamily="34" charset="0"/>
              </a:rPr>
              <a:t>Report Error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285036" y="502672"/>
            <a:ext cx="7249364" cy="5006290"/>
            <a:chOff x="980236" y="542707"/>
            <a:chExt cx="7249364" cy="5006290"/>
          </a:xfrm>
        </p:grpSpPr>
        <p:sp>
          <p:nvSpPr>
            <p:cNvPr id="10" name="Flowchart: Decision 9"/>
            <p:cNvSpPr/>
            <p:nvPr/>
          </p:nvSpPr>
          <p:spPr>
            <a:xfrm>
              <a:off x="2706338" y="1409700"/>
              <a:ext cx="2437929" cy="377803"/>
            </a:xfrm>
            <a:prstGeom prst="flowChartDecision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80808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cs typeface="Arial" pitchFamily="34" charset="0"/>
                </a:rPr>
                <a:t>Check </a:t>
              </a:r>
              <a:r>
                <a:rPr lang="en-IN" sz="1000" dirty="0" smtClean="0">
                  <a:cs typeface="Arial" pitchFamily="34" charset="0"/>
                </a:rPr>
                <a:t>Application </a:t>
              </a:r>
              <a:r>
                <a:rPr lang="en-IN" sz="1000" dirty="0">
                  <a:cs typeface="Arial" pitchFamily="34" charset="0"/>
                </a:rPr>
                <a:t>Status</a:t>
              </a: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2841522" y="542707"/>
              <a:ext cx="2167559" cy="1581423"/>
              <a:chOff x="2841522" y="542707"/>
              <a:chExt cx="2167559" cy="1581423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3385771" y="542707"/>
                <a:ext cx="1066800" cy="22860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rgbClr val="080808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cs typeface="Arial" pitchFamily="34" charset="0"/>
                  </a:rPr>
                  <a:t>Start</a:t>
                </a:r>
                <a:endParaRPr lang="en-IN" sz="1000" dirty="0">
                  <a:cs typeface="Arial" pitchFamily="34" charset="0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3001470" y="964406"/>
                <a:ext cx="1835402" cy="21669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080808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cs typeface="Arial" pitchFamily="34" charset="0"/>
                  </a:rPr>
                  <a:t>Invoke Application</a:t>
                </a:r>
              </a:p>
            </p:txBody>
          </p:sp>
          <p:cxnSp>
            <p:nvCxnSpPr>
              <p:cNvPr id="9" name="Straight Arrow Connector 8"/>
              <p:cNvCxnSpPr>
                <a:stCxn id="4" idx="4"/>
                <a:endCxn id="8" idx="0"/>
              </p:cNvCxnSpPr>
              <p:nvPr/>
            </p:nvCxnSpPr>
            <p:spPr>
              <a:xfrm>
                <a:off x="3919171" y="771307"/>
                <a:ext cx="0" cy="193099"/>
              </a:xfrm>
              <a:prstGeom prst="straightConnector1">
                <a:avLst/>
              </a:prstGeom>
              <a:ln w="9525">
                <a:solidFill>
                  <a:srgbClr val="080808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>
                <a:stCxn id="8" idx="2"/>
                <a:endCxn id="10" idx="0"/>
              </p:cNvCxnSpPr>
              <p:nvPr/>
            </p:nvCxnSpPr>
            <p:spPr>
              <a:xfrm>
                <a:off x="3919171" y="1181100"/>
                <a:ext cx="6132" cy="228600"/>
              </a:xfrm>
              <a:prstGeom prst="straightConnector1">
                <a:avLst/>
              </a:prstGeom>
              <a:ln w="9525">
                <a:solidFill>
                  <a:srgbClr val="080808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Flowchart: Data 139"/>
              <p:cNvSpPr/>
              <p:nvPr/>
            </p:nvSpPr>
            <p:spPr>
              <a:xfrm>
                <a:off x="2841522" y="1936044"/>
                <a:ext cx="2167559" cy="188086"/>
              </a:xfrm>
              <a:prstGeom prst="flowChartInputOutpu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dirty="0">
                    <a:cs typeface="Arial" pitchFamily="34" charset="0"/>
                  </a:rPr>
                  <a:t>Display User Login</a:t>
                </a:r>
              </a:p>
            </p:txBody>
          </p:sp>
          <p:cxnSp>
            <p:nvCxnSpPr>
              <p:cNvPr id="179" name="Straight Arrow Connector 178"/>
              <p:cNvCxnSpPr>
                <a:stCxn id="10" idx="2"/>
                <a:endCxn id="140" idx="1"/>
              </p:cNvCxnSpPr>
              <p:nvPr/>
            </p:nvCxnSpPr>
            <p:spPr>
              <a:xfrm flipH="1">
                <a:off x="3925302" y="1787503"/>
                <a:ext cx="1" cy="14854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/>
            <p:cNvCxnSpPr/>
            <p:nvPr/>
          </p:nvCxnSpPr>
          <p:spPr>
            <a:xfrm>
              <a:off x="3933825" y="2124075"/>
              <a:ext cx="1587" cy="2664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2562225" y="2400300"/>
              <a:ext cx="1371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>
              <a:off x="3952875" y="2400300"/>
              <a:ext cx="2362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>
              <a:off x="6324600" y="2390775"/>
              <a:ext cx="0" cy="23812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/>
            <p:cNvSpPr/>
            <p:nvPr/>
          </p:nvSpPr>
          <p:spPr>
            <a:xfrm>
              <a:off x="1666875" y="2657475"/>
              <a:ext cx="1905000" cy="23446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cs typeface="Arial" pitchFamily="34" charset="0"/>
                </a:rPr>
                <a:t>Admin Login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391150" y="2667000"/>
              <a:ext cx="1905000" cy="23446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cs typeface="Arial" pitchFamily="34" charset="0"/>
                </a:rPr>
                <a:t>Student Login</a:t>
              </a:r>
            </a:p>
          </p:txBody>
        </p:sp>
        <p:sp>
          <p:nvSpPr>
            <p:cNvPr id="78" name="Flowchart: Data 77"/>
            <p:cNvSpPr/>
            <p:nvPr/>
          </p:nvSpPr>
          <p:spPr>
            <a:xfrm>
              <a:off x="1676400" y="3162300"/>
              <a:ext cx="1861813" cy="162220"/>
            </a:xfrm>
            <a:prstGeom prst="flowChartInputOutpu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cs typeface="Arial" pitchFamily="34" charset="0"/>
                </a:rPr>
                <a:t>Admin UI </a:t>
              </a:r>
            </a:p>
          </p:txBody>
        </p:sp>
        <p:sp>
          <p:nvSpPr>
            <p:cNvPr id="79" name="Flowchart: Data 78"/>
            <p:cNvSpPr/>
            <p:nvPr/>
          </p:nvSpPr>
          <p:spPr>
            <a:xfrm>
              <a:off x="5410200" y="3086100"/>
              <a:ext cx="1861813" cy="162220"/>
            </a:xfrm>
            <a:prstGeom prst="flowChartInputOutpu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cs typeface="Arial" pitchFamily="34" charset="0"/>
                </a:rPr>
                <a:t>Student UI</a:t>
              </a:r>
            </a:p>
          </p:txBody>
        </p:sp>
        <p:cxnSp>
          <p:nvCxnSpPr>
            <p:cNvPr id="81" name="Straight Arrow Connector 80"/>
            <p:cNvCxnSpPr/>
            <p:nvPr/>
          </p:nvCxnSpPr>
          <p:spPr>
            <a:xfrm>
              <a:off x="2590800" y="2895600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>
            <a:xfrm>
              <a:off x="6324600" y="2914650"/>
              <a:ext cx="0" cy="152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/>
            <p:cNvSpPr/>
            <p:nvPr/>
          </p:nvSpPr>
          <p:spPr>
            <a:xfrm>
              <a:off x="5257800" y="3419475"/>
              <a:ext cx="2201202" cy="21235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cs typeface="Arial" pitchFamily="34" charset="0"/>
                </a:rPr>
                <a:t>Question Presentation</a:t>
              </a:r>
            </a:p>
          </p:txBody>
        </p:sp>
        <p:cxnSp>
          <p:nvCxnSpPr>
            <p:cNvPr id="85" name="Straight Arrow Connector 84"/>
            <p:cNvCxnSpPr/>
            <p:nvPr/>
          </p:nvCxnSpPr>
          <p:spPr>
            <a:xfrm>
              <a:off x="6324600" y="3257550"/>
              <a:ext cx="0" cy="152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>
              <a:off x="6353175" y="3638550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Flowchart: Data 86"/>
            <p:cNvSpPr/>
            <p:nvPr/>
          </p:nvSpPr>
          <p:spPr>
            <a:xfrm>
              <a:off x="5381625" y="3886200"/>
              <a:ext cx="1968293" cy="228600"/>
            </a:xfrm>
            <a:prstGeom prst="flowChartInputOutpu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cs typeface="Arial" pitchFamily="34" charset="0"/>
                </a:rPr>
                <a:t>Answer Selection</a:t>
              </a:r>
            </a:p>
          </p:txBody>
        </p:sp>
        <p:cxnSp>
          <p:nvCxnSpPr>
            <p:cNvPr id="88" name="Straight Arrow Connector 87"/>
            <p:cNvCxnSpPr/>
            <p:nvPr/>
          </p:nvCxnSpPr>
          <p:spPr>
            <a:xfrm>
              <a:off x="6391275" y="4124325"/>
              <a:ext cx="9525" cy="18097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88"/>
            <p:cNvSpPr/>
            <p:nvPr/>
          </p:nvSpPr>
          <p:spPr>
            <a:xfrm>
              <a:off x="5486400" y="4333875"/>
              <a:ext cx="1851535" cy="24054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cs typeface="Arial" pitchFamily="34" charset="0"/>
                </a:rPr>
                <a:t>Navigate to next Question</a:t>
              </a:r>
            </a:p>
          </p:txBody>
        </p:sp>
        <p:sp>
          <p:nvSpPr>
            <p:cNvPr id="90" name="Flowchart: Decision 89"/>
            <p:cNvSpPr/>
            <p:nvPr/>
          </p:nvSpPr>
          <p:spPr>
            <a:xfrm>
              <a:off x="5476875" y="4743450"/>
              <a:ext cx="1866374" cy="358706"/>
            </a:xfrm>
            <a:prstGeom prst="flowChartDecision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80808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cs typeface="Arial" pitchFamily="34" charset="0"/>
                </a:rPr>
                <a:t>If questions completed</a:t>
              </a:r>
            </a:p>
          </p:txBody>
        </p:sp>
        <p:cxnSp>
          <p:nvCxnSpPr>
            <p:cNvPr id="93" name="Straight Arrow Connector 92"/>
            <p:cNvCxnSpPr/>
            <p:nvPr/>
          </p:nvCxnSpPr>
          <p:spPr>
            <a:xfrm>
              <a:off x="6400800" y="4572000"/>
              <a:ext cx="9525" cy="17145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/>
            <p:nvPr/>
          </p:nvCxnSpPr>
          <p:spPr>
            <a:xfrm>
              <a:off x="6438900" y="5114925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Rectangle 107"/>
            <p:cNvSpPr/>
            <p:nvPr/>
          </p:nvSpPr>
          <p:spPr>
            <a:xfrm>
              <a:off x="5601800" y="5334794"/>
              <a:ext cx="1578949" cy="17416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cs typeface="Arial" pitchFamily="34" charset="0"/>
                </a:rPr>
                <a:t>Feedback Display</a:t>
              </a: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1676400" y="3543300"/>
              <a:ext cx="1966696" cy="2286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cs typeface="Arial" pitchFamily="34" charset="0"/>
                </a:rPr>
                <a:t>Establish DB connection</a:t>
              </a:r>
            </a:p>
          </p:txBody>
        </p:sp>
        <p:cxnSp>
          <p:nvCxnSpPr>
            <p:cNvPr id="112" name="Straight Arrow Connector 111"/>
            <p:cNvCxnSpPr/>
            <p:nvPr/>
          </p:nvCxnSpPr>
          <p:spPr>
            <a:xfrm>
              <a:off x="2552700" y="2400300"/>
              <a:ext cx="0" cy="23812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/>
            <p:nvPr/>
          </p:nvCxnSpPr>
          <p:spPr>
            <a:xfrm>
              <a:off x="2590800" y="3314700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Flowchart: Decision 113"/>
            <p:cNvSpPr/>
            <p:nvPr/>
          </p:nvSpPr>
          <p:spPr>
            <a:xfrm>
              <a:off x="1524000" y="4000500"/>
              <a:ext cx="2142625" cy="324292"/>
            </a:xfrm>
            <a:prstGeom prst="flowChartDecision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80808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cs typeface="Arial" pitchFamily="34" charset="0"/>
                </a:rPr>
                <a:t>If  connection established</a:t>
              </a:r>
            </a:p>
          </p:txBody>
        </p:sp>
        <p:cxnSp>
          <p:nvCxnSpPr>
            <p:cNvPr id="115" name="Straight Arrow Connector 114"/>
            <p:cNvCxnSpPr/>
            <p:nvPr/>
          </p:nvCxnSpPr>
          <p:spPr>
            <a:xfrm>
              <a:off x="2590800" y="3771900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Rectangle 115"/>
            <p:cNvSpPr/>
            <p:nvPr/>
          </p:nvSpPr>
          <p:spPr>
            <a:xfrm>
              <a:off x="1562100" y="4533900"/>
              <a:ext cx="2201202" cy="21235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cs typeface="Arial" pitchFamily="34" charset="0"/>
                </a:rPr>
                <a:t>Uploading Excel file to DB</a:t>
              </a:r>
            </a:p>
          </p:txBody>
        </p:sp>
        <p:cxnSp>
          <p:nvCxnSpPr>
            <p:cNvPr id="117" name="Straight Arrow Connector 116"/>
            <p:cNvCxnSpPr/>
            <p:nvPr/>
          </p:nvCxnSpPr>
          <p:spPr>
            <a:xfrm>
              <a:off x="2590800" y="4305300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/>
            <p:cNvSpPr/>
            <p:nvPr/>
          </p:nvSpPr>
          <p:spPr>
            <a:xfrm>
              <a:off x="1933575" y="5294759"/>
              <a:ext cx="1295400" cy="254238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rgbClr val="080808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cs typeface="Arial" pitchFamily="34" charset="0"/>
                </a:rPr>
                <a:t>End</a:t>
              </a:r>
              <a:endParaRPr lang="en-IN" sz="1000" dirty="0">
                <a:cs typeface="Arial" pitchFamily="34" charset="0"/>
              </a:endParaRPr>
            </a:p>
          </p:txBody>
        </p:sp>
        <p:cxnSp>
          <p:nvCxnSpPr>
            <p:cNvPr id="36" name="Straight Connector 35"/>
            <p:cNvCxnSpPr/>
            <p:nvPr/>
          </p:nvCxnSpPr>
          <p:spPr>
            <a:xfrm flipH="1">
              <a:off x="985418" y="1609727"/>
              <a:ext cx="1749966" cy="19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>
              <a:stCxn id="135" idx="4"/>
            </p:cNvCxnSpPr>
            <p:nvPr/>
          </p:nvCxnSpPr>
          <p:spPr>
            <a:xfrm>
              <a:off x="985418" y="4229100"/>
              <a:ext cx="0" cy="11832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endCxn id="118" idx="2"/>
            </p:cNvCxnSpPr>
            <p:nvPr/>
          </p:nvCxnSpPr>
          <p:spPr>
            <a:xfrm>
              <a:off x="985418" y="5412353"/>
              <a:ext cx="948157" cy="952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/>
            <p:cNvCxnSpPr/>
            <p:nvPr/>
          </p:nvCxnSpPr>
          <p:spPr>
            <a:xfrm flipH="1" flipV="1">
              <a:off x="1066800" y="4152900"/>
              <a:ext cx="457200" cy="952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/>
            <p:cNvCxnSpPr>
              <a:endCxn id="135" idx="1"/>
            </p:cNvCxnSpPr>
            <p:nvPr/>
          </p:nvCxnSpPr>
          <p:spPr>
            <a:xfrm>
              <a:off x="980236" y="1628775"/>
              <a:ext cx="5182" cy="229552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/>
            <p:nvPr/>
          </p:nvCxnSpPr>
          <p:spPr>
            <a:xfrm flipV="1">
              <a:off x="7315200" y="4914900"/>
              <a:ext cx="914400" cy="269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flipV="1">
              <a:off x="8229600" y="3543300"/>
              <a:ext cx="0" cy="1371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endCxn id="84" idx="3"/>
            </p:cNvCxnSpPr>
            <p:nvPr/>
          </p:nvCxnSpPr>
          <p:spPr>
            <a:xfrm flipH="1" flipV="1">
              <a:off x="7459002" y="3525652"/>
              <a:ext cx="770598" cy="176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108" idx="1"/>
              <a:endCxn id="118" idx="6"/>
            </p:cNvCxnSpPr>
            <p:nvPr/>
          </p:nvCxnSpPr>
          <p:spPr>
            <a:xfrm flipH="1">
              <a:off x="3228975" y="5421878"/>
              <a:ext cx="237282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/>
            <p:cNvCxnSpPr>
              <a:endCxn id="118" idx="0"/>
            </p:cNvCxnSpPr>
            <p:nvPr/>
          </p:nvCxnSpPr>
          <p:spPr>
            <a:xfrm flipH="1">
              <a:off x="2581275" y="4746253"/>
              <a:ext cx="4512" cy="54850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TextBox 293"/>
            <p:cNvSpPr txBox="1"/>
            <p:nvPr/>
          </p:nvSpPr>
          <p:spPr>
            <a:xfrm>
              <a:off x="6429375" y="5086350"/>
              <a:ext cx="90856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 smtClean="0">
                  <a:latin typeface="+mn-lt"/>
                </a:rPr>
                <a:t>Yes</a:t>
              </a:r>
              <a:endParaRPr lang="en-IN" sz="900" b="1" dirty="0">
                <a:latin typeface="+mn-lt"/>
              </a:endParaRP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2565131" y="4324792"/>
              <a:ext cx="9144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 smtClean="0">
                  <a:latin typeface="+mn-lt"/>
                </a:rPr>
                <a:t>Yes</a:t>
              </a:r>
              <a:endParaRPr lang="en-IN" sz="900" b="1" dirty="0">
                <a:latin typeface="+mn-lt"/>
              </a:endParaRP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3886200" y="1743075"/>
              <a:ext cx="609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 smtClean="0">
                  <a:latin typeface="+mn-lt"/>
                </a:rPr>
                <a:t>Yes</a:t>
              </a:r>
              <a:endParaRPr lang="en-IN" sz="900" b="1" dirty="0">
                <a:latin typeface="+mn-lt"/>
              </a:endParaRPr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7315200" y="4743450"/>
              <a:ext cx="9144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 smtClean="0">
                  <a:latin typeface="+mn-lt"/>
                </a:rPr>
                <a:t>No</a:t>
              </a:r>
              <a:endParaRPr lang="en-IN" sz="900" b="1" dirty="0">
                <a:latin typeface="+mn-lt"/>
              </a:endParaRP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1123950" y="3962400"/>
              <a:ext cx="9144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 smtClean="0">
                  <a:latin typeface="+mn-lt"/>
                </a:rPr>
                <a:t>No</a:t>
              </a:r>
              <a:endParaRPr lang="en-IN" sz="900" b="1" dirty="0">
                <a:latin typeface="+mn-lt"/>
              </a:endParaRP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2314575" y="1426518"/>
              <a:ext cx="9144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 smtClean="0">
                  <a:latin typeface="+mn-lt"/>
                </a:rPr>
                <a:t>No</a:t>
              </a:r>
              <a:endParaRPr lang="en-IN" sz="900" b="1" dirty="0">
                <a:latin typeface="+mn-lt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29599" y="5282644"/>
            <a:ext cx="681501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>
                <a:latin typeface="+mn-lt"/>
              </a:rPr>
              <a:t>8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58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10055"/>
            <a:ext cx="8842375" cy="209045"/>
            <a:chOff x="0" y="0"/>
            <a:chExt cx="9289288" cy="261706"/>
          </a:xfrm>
        </p:grpSpPr>
        <p:sp>
          <p:nvSpPr>
            <p:cNvPr id="59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60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11821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22270" y="135968"/>
            <a:ext cx="2514600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smtClean="0">
                <a:solidFill>
                  <a:srgbClr val="C00000"/>
                </a:solidFill>
                <a:latin typeface="+mn-lt"/>
              </a:rPr>
              <a:t>Activity</a:t>
            </a:r>
            <a:r>
              <a:rPr lang="en-US" sz="1600" b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+mn-lt"/>
              </a:rPr>
              <a:t>Diagram</a:t>
            </a:r>
            <a:endParaRPr lang="en-US" sz="1600" b="1" dirty="0">
              <a:solidFill>
                <a:srgbClr val="C00000"/>
              </a:solidFill>
              <a:latin typeface="+mn-lt"/>
            </a:endParaRPr>
          </a:p>
        </p:txBody>
      </p:sp>
      <p:cxnSp>
        <p:nvCxnSpPr>
          <p:cNvPr id="110" name="Straight Arrow Connector 109"/>
          <p:cNvCxnSpPr/>
          <p:nvPr/>
        </p:nvCxnSpPr>
        <p:spPr>
          <a:xfrm>
            <a:off x="5826355" y="4129794"/>
            <a:ext cx="0" cy="2332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5839452" y="4655020"/>
            <a:ext cx="1187" cy="1912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5860882" y="5128882"/>
            <a:ext cx="1187" cy="1912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971925" y="1162050"/>
            <a:ext cx="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3995470" y="1671370"/>
            <a:ext cx="0" cy="1193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76" idx="2"/>
          </p:cNvCxnSpPr>
          <p:nvPr/>
        </p:nvCxnSpPr>
        <p:spPr>
          <a:xfrm flipH="1">
            <a:off x="2600288" y="2760710"/>
            <a:ext cx="8626" cy="2708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6813436" y="2950952"/>
            <a:ext cx="16002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>
                <a:latin typeface="+mn-lt"/>
              </a:rPr>
              <a:t>Exam mode</a:t>
            </a:r>
            <a:endParaRPr lang="en-IN" sz="900" b="1" dirty="0">
              <a:latin typeface="+mn-lt"/>
            </a:endParaRPr>
          </a:p>
        </p:txBody>
      </p:sp>
      <p:cxnSp>
        <p:nvCxnSpPr>
          <p:cNvPr id="130" name="Straight Connector 129"/>
          <p:cNvCxnSpPr/>
          <p:nvPr/>
        </p:nvCxnSpPr>
        <p:spPr>
          <a:xfrm flipH="1">
            <a:off x="4724400" y="3695700"/>
            <a:ext cx="2057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/>
          <p:nvPr/>
        </p:nvCxnSpPr>
        <p:spPr>
          <a:xfrm>
            <a:off x="4724400" y="3474415"/>
            <a:ext cx="0" cy="2248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>
            <a:stCxn id="128" idx="2"/>
          </p:cNvCxnSpPr>
          <p:nvPr/>
        </p:nvCxnSpPr>
        <p:spPr>
          <a:xfrm flipH="1">
            <a:off x="6791288" y="3488768"/>
            <a:ext cx="8626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>
            <a:off x="5825940" y="3695700"/>
            <a:ext cx="0" cy="2020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2616678" y="3271570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1143000" y="2857500"/>
            <a:ext cx="10668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+mn-lt"/>
              </a:rPr>
              <a:t>DGN_03</a:t>
            </a:r>
            <a:endParaRPr lang="en-IN" sz="1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13218" y="5300544"/>
            <a:ext cx="645983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>
                <a:latin typeface="+mn-lt"/>
              </a:rPr>
              <a:t>9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8738" y="462436"/>
            <a:ext cx="9398811" cy="5184376"/>
            <a:chOff x="79250" y="440768"/>
            <a:chExt cx="9398811" cy="5184376"/>
          </a:xfrm>
        </p:grpSpPr>
        <p:sp>
          <p:nvSpPr>
            <p:cNvPr id="74" name="Rectangle 73"/>
            <p:cNvSpPr/>
            <p:nvPr/>
          </p:nvSpPr>
          <p:spPr>
            <a:xfrm>
              <a:off x="238660" y="2916448"/>
              <a:ext cx="21336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900" b="1" dirty="0">
                  <a:latin typeface="+mn-lt"/>
                </a:rPr>
                <a:t>Uploading </a:t>
              </a:r>
            </a:p>
            <a:p>
              <a:pPr algn="just"/>
              <a:r>
                <a:rPr lang="en-US" sz="900" b="1" dirty="0">
                  <a:latin typeface="+mn-lt"/>
                </a:rPr>
                <a:t>excel file to DB </a:t>
              </a:r>
              <a:endParaRPr lang="en-IN" sz="900" b="1" dirty="0">
                <a:latin typeface="+mn-lt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79250" y="1932735"/>
              <a:ext cx="1447800" cy="300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900" b="1" dirty="0">
                  <a:latin typeface="+mn-lt"/>
                </a:rPr>
                <a:t>Admin login 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88759" y="2484585"/>
              <a:ext cx="1524000" cy="300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900" b="1" dirty="0">
                  <a:latin typeface="+mn-lt"/>
                </a:rPr>
                <a:t>Admin UI display 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084189" y="440768"/>
              <a:ext cx="4700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latin typeface="+mn-lt"/>
                </a:rPr>
                <a:t>Start</a:t>
              </a:r>
              <a:endParaRPr lang="en-IN" sz="1100" b="1" dirty="0">
                <a:latin typeface="+mn-lt"/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368002" y="3887725"/>
              <a:ext cx="1775997" cy="230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b="1" dirty="0">
                  <a:latin typeface="+mn-lt"/>
                </a:rPr>
                <a:t>Question Presentation </a:t>
              </a:r>
              <a:endParaRPr lang="en-IN" sz="900" b="1" dirty="0">
                <a:latin typeface="+mn-lt"/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7337500" y="4347473"/>
              <a:ext cx="1711435" cy="230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b="1" dirty="0">
                  <a:latin typeface="+mn-lt"/>
                </a:rPr>
                <a:t>Answer Selection </a:t>
              </a:r>
              <a:endParaRPr lang="en-IN" sz="900" b="1" dirty="0">
                <a:latin typeface="+mn-lt"/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398391" y="4822261"/>
              <a:ext cx="2079670" cy="230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b="1" dirty="0">
                  <a:latin typeface="+mn-lt"/>
                </a:rPr>
                <a:t>Navigation  Control </a:t>
              </a:r>
              <a:endParaRPr lang="en-IN" sz="900" b="1" dirty="0">
                <a:latin typeface="+mn-lt"/>
              </a:endParaRP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5439459" y="3887725"/>
              <a:ext cx="757131" cy="2591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Step 11</a:t>
              </a:r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>
              <a:off x="6238259" y="4016830"/>
              <a:ext cx="1135698" cy="0"/>
            </a:xfrm>
            <a:prstGeom prst="straightConnector1">
              <a:avLst/>
            </a:prstGeom>
            <a:ln w="28575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ectangle 110"/>
            <p:cNvSpPr/>
            <p:nvPr/>
          </p:nvSpPr>
          <p:spPr>
            <a:xfrm>
              <a:off x="5446601" y="4396807"/>
              <a:ext cx="757131" cy="2591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Step 12</a:t>
              </a:r>
            </a:p>
          </p:txBody>
        </p:sp>
        <p:cxnSp>
          <p:nvCxnSpPr>
            <p:cNvPr id="112" name="Straight Arrow Connector 111"/>
            <p:cNvCxnSpPr/>
            <p:nvPr/>
          </p:nvCxnSpPr>
          <p:spPr>
            <a:xfrm>
              <a:off x="6232304" y="4509772"/>
              <a:ext cx="1135698" cy="0"/>
            </a:xfrm>
            <a:prstGeom prst="straightConnector1">
              <a:avLst/>
            </a:prstGeom>
            <a:ln w="28575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Rectangle 112"/>
            <p:cNvSpPr/>
            <p:nvPr/>
          </p:nvSpPr>
          <p:spPr>
            <a:xfrm>
              <a:off x="5468029" y="4872144"/>
              <a:ext cx="757131" cy="2591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Step 13</a:t>
              </a:r>
            </a:p>
          </p:txBody>
        </p:sp>
        <p:cxnSp>
          <p:nvCxnSpPr>
            <p:cNvPr id="115" name="Straight Arrow Connector 114"/>
            <p:cNvCxnSpPr/>
            <p:nvPr/>
          </p:nvCxnSpPr>
          <p:spPr>
            <a:xfrm>
              <a:off x="6232304" y="4985106"/>
              <a:ext cx="1135698" cy="0"/>
            </a:xfrm>
            <a:prstGeom prst="straightConnector1">
              <a:avLst/>
            </a:prstGeom>
            <a:ln w="28575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ectangle 116"/>
            <p:cNvSpPr/>
            <p:nvPr/>
          </p:nvSpPr>
          <p:spPr>
            <a:xfrm>
              <a:off x="5488268" y="5320831"/>
              <a:ext cx="757131" cy="2591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Step 14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240094" y="3432596"/>
              <a:ext cx="1524000" cy="300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900" b="1" dirty="0">
                  <a:latin typeface="+mn-lt"/>
                </a:rPr>
                <a:t>Check for DB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228600" y="3804970"/>
              <a:ext cx="16002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900" b="1" dirty="0">
                  <a:latin typeface="+mn-lt"/>
                </a:rPr>
                <a:t>Validate and</a:t>
              </a:r>
            </a:p>
            <a:p>
              <a:pPr algn="just"/>
              <a:r>
                <a:rPr lang="en-US" sz="900" b="1" dirty="0">
                  <a:latin typeface="+mn-lt"/>
                </a:rPr>
                <a:t> transfer</a:t>
              </a:r>
            </a:p>
          </p:txBody>
        </p:sp>
        <p:sp>
          <p:nvSpPr>
            <p:cNvPr id="98" name="Flowchart: Connector 97"/>
            <p:cNvSpPr/>
            <p:nvPr/>
          </p:nvSpPr>
          <p:spPr>
            <a:xfrm>
              <a:off x="3810000" y="440768"/>
              <a:ext cx="304800" cy="283132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18" name="Straight Arrow Connector 117"/>
            <p:cNvCxnSpPr>
              <a:endCxn id="11" idx="0"/>
            </p:cNvCxnSpPr>
            <p:nvPr/>
          </p:nvCxnSpPr>
          <p:spPr>
            <a:xfrm>
              <a:off x="3962400" y="723900"/>
              <a:ext cx="0" cy="20955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3543300" y="933450"/>
              <a:ext cx="838200" cy="2286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Step 1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133600" y="2019300"/>
              <a:ext cx="885825" cy="2286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Step 2</a:t>
              </a:r>
            </a:p>
          </p:txBody>
        </p:sp>
        <p:sp>
          <p:nvSpPr>
            <p:cNvPr id="40" name="Diamond 39"/>
            <p:cNvSpPr/>
            <p:nvPr/>
          </p:nvSpPr>
          <p:spPr>
            <a:xfrm>
              <a:off x="3695700" y="1304924"/>
              <a:ext cx="571500" cy="371475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>
              <a:off x="2564922" y="2246466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1923686" y="5300213"/>
              <a:ext cx="4042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latin typeface="+mn-lt"/>
                </a:rPr>
                <a:t>End</a:t>
              </a:r>
              <a:endParaRPr lang="en-IN" sz="1100" b="1" dirty="0">
                <a:latin typeface="+mn-lt"/>
              </a:endParaRPr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4419600" y="1076325"/>
              <a:ext cx="1752600" cy="0"/>
            </a:xfrm>
            <a:prstGeom prst="straightConnector1">
              <a:avLst/>
            </a:prstGeom>
            <a:ln w="28575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/>
            <p:cNvSpPr/>
            <p:nvPr/>
          </p:nvSpPr>
          <p:spPr>
            <a:xfrm>
              <a:off x="6248400" y="876300"/>
              <a:ext cx="1530444" cy="300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900" b="1" dirty="0">
                  <a:latin typeface="+mn-lt"/>
                </a:rPr>
                <a:t>User login 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467600" y="5295900"/>
              <a:ext cx="198120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b="1" dirty="0">
                  <a:latin typeface="+mn-lt"/>
                </a:rPr>
                <a:t>Feedback  Display</a:t>
              </a:r>
              <a:endParaRPr lang="en-IN" sz="900" b="1" dirty="0">
                <a:latin typeface="+mn-lt"/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467154" y="800190"/>
              <a:ext cx="10668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DGN_01</a:t>
              </a:r>
              <a:endParaRPr lang="en-IN" sz="1000" b="1" dirty="0">
                <a:solidFill>
                  <a:srgbClr val="C00000"/>
                </a:solidFill>
                <a:latin typeface="+mn-lt"/>
                <a:cs typeface="Times New Roman" pitchFamily="18" charset="0"/>
              </a:endParaRPr>
            </a:p>
          </p:txBody>
        </p:sp>
        <p:cxnSp>
          <p:nvCxnSpPr>
            <p:cNvPr id="96" name="Straight Arrow Connector 95"/>
            <p:cNvCxnSpPr/>
            <p:nvPr/>
          </p:nvCxnSpPr>
          <p:spPr>
            <a:xfrm flipH="1">
              <a:off x="981974" y="2121378"/>
              <a:ext cx="1143000" cy="0"/>
            </a:xfrm>
            <a:prstGeom prst="straightConnector1">
              <a:avLst/>
            </a:prstGeom>
            <a:ln w="28575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 flipV="1">
              <a:off x="3962400" y="1789266"/>
              <a:ext cx="1752600" cy="14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>
            <a:xfrm>
              <a:off x="2514600" y="1790700"/>
              <a:ext cx="1447800" cy="228600"/>
              <a:chOff x="2514600" y="2095500"/>
              <a:chExt cx="1447800" cy="228600"/>
            </a:xfrm>
          </p:grpSpPr>
          <p:cxnSp>
            <p:nvCxnSpPr>
              <p:cNvPr id="9" name="Straight Connector 8"/>
              <p:cNvCxnSpPr/>
              <p:nvPr/>
            </p:nvCxnSpPr>
            <p:spPr>
              <a:xfrm flipH="1">
                <a:off x="2514600" y="2095500"/>
                <a:ext cx="1447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/>
              <p:cNvCxnSpPr/>
              <p:nvPr/>
            </p:nvCxnSpPr>
            <p:spPr>
              <a:xfrm>
                <a:off x="2514600" y="2095500"/>
                <a:ext cx="0" cy="2286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Rectangle 75"/>
            <p:cNvSpPr/>
            <p:nvPr/>
          </p:nvSpPr>
          <p:spPr>
            <a:xfrm>
              <a:off x="2142226" y="2485126"/>
              <a:ext cx="914399" cy="2539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Step 3</a:t>
              </a:r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 flipH="1">
              <a:off x="1155928" y="2637526"/>
              <a:ext cx="938844" cy="0"/>
            </a:xfrm>
            <a:prstGeom prst="straightConnector1">
              <a:avLst/>
            </a:prstGeom>
            <a:ln w="28575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>
              <a:off x="2142226" y="3027152"/>
              <a:ext cx="914399" cy="2539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Step 4</a:t>
              </a:r>
            </a:p>
          </p:txBody>
        </p:sp>
        <p:cxnSp>
          <p:nvCxnSpPr>
            <p:cNvPr id="87" name="Straight Arrow Connector 86"/>
            <p:cNvCxnSpPr/>
            <p:nvPr/>
          </p:nvCxnSpPr>
          <p:spPr>
            <a:xfrm flipH="1">
              <a:off x="1193322" y="3153674"/>
              <a:ext cx="938844" cy="0"/>
            </a:xfrm>
            <a:prstGeom prst="straightConnector1">
              <a:avLst/>
            </a:prstGeom>
            <a:ln w="28575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/>
            <p:cNvSpPr/>
            <p:nvPr/>
          </p:nvSpPr>
          <p:spPr>
            <a:xfrm>
              <a:off x="7620000" y="1866900"/>
              <a:ext cx="1530444" cy="300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900" b="1" dirty="0">
                  <a:latin typeface="+mn-lt"/>
                </a:rPr>
                <a:t>Student login 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7654504" y="2374422"/>
              <a:ext cx="1219200" cy="300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900" b="1" dirty="0">
                  <a:latin typeface="+mn-lt"/>
                </a:rPr>
                <a:t>Student UI display 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256835" y="3231185"/>
              <a:ext cx="914399" cy="2539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Step 9</a:t>
              </a:r>
            </a:p>
          </p:txBody>
        </p:sp>
        <p:cxnSp>
          <p:nvCxnSpPr>
            <p:cNvPr id="108" name="Straight Arrow Connector 107"/>
            <p:cNvCxnSpPr/>
            <p:nvPr/>
          </p:nvCxnSpPr>
          <p:spPr>
            <a:xfrm>
              <a:off x="5713566" y="1789266"/>
              <a:ext cx="0" cy="22767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/>
            <p:cNvGrpSpPr/>
            <p:nvPr/>
          </p:nvGrpSpPr>
          <p:grpSpPr>
            <a:xfrm>
              <a:off x="4724400" y="1988632"/>
              <a:ext cx="2895600" cy="1478469"/>
              <a:chOff x="4724400" y="2299421"/>
              <a:chExt cx="2895600" cy="1672966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5334000" y="2299421"/>
                <a:ext cx="914399" cy="25391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Step 7</a:t>
                </a:r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781140" y="2536647"/>
                <a:ext cx="0" cy="2286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/>
              <p:nvPr/>
            </p:nvCxnSpPr>
            <p:spPr>
              <a:xfrm>
                <a:off x="6248400" y="2400300"/>
                <a:ext cx="1371600" cy="0"/>
              </a:xfrm>
              <a:prstGeom prst="straightConnector1">
                <a:avLst/>
              </a:prstGeom>
              <a:ln w="28575"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Rectangle 96"/>
              <p:cNvSpPr/>
              <p:nvPr/>
            </p:nvSpPr>
            <p:spPr>
              <a:xfrm>
                <a:off x="5334000" y="2746796"/>
                <a:ext cx="914399" cy="25391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Step 8</a:t>
                </a:r>
              </a:p>
            </p:txBody>
          </p:sp>
          <p:cxnSp>
            <p:nvCxnSpPr>
              <p:cNvPr id="100" name="Straight Arrow Connector 99"/>
              <p:cNvCxnSpPr/>
              <p:nvPr/>
            </p:nvCxnSpPr>
            <p:spPr>
              <a:xfrm>
                <a:off x="6248400" y="2857500"/>
                <a:ext cx="1371600" cy="0"/>
              </a:xfrm>
              <a:prstGeom prst="straightConnector1">
                <a:avLst/>
              </a:prstGeom>
              <a:ln w="28575"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/>
              <p:cNvCxnSpPr/>
              <p:nvPr/>
            </p:nvCxnSpPr>
            <p:spPr>
              <a:xfrm>
                <a:off x="5791200" y="3009900"/>
                <a:ext cx="0" cy="2286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Diamond 118"/>
              <p:cNvSpPr/>
              <p:nvPr/>
            </p:nvSpPr>
            <p:spPr>
              <a:xfrm>
                <a:off x="5503652" y="3247126"/>
                <a:ext cx="571500" cy="371475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120" name="Group 119"/>
              <p:cNvGrpSpPr/>
              <p:nvPr/>
            </p:nvGrpSpPr>
            <p:grpSpPr>
              <a:xfrm>
                <a:off x="4724400" y="3441225"/>
                <a:ext cx="770626" cy="254476"/>
                <a:chOff x="2514600" y="2095500"/>
                <a:chExt cx="1447800" cy="379926"/>
              </a:xfrm>
            </p:grpSpPr>
            <p:cxnSp>
              <p:nvCxnSpPr>
                <p:cNvPr id="121" name="Straight Connector 120"/>
                <p:cNvCxnSpPr/>
                <p:nvPr/>
              </p:nvCxnSpPr>
              <p:spPr>
                <a:xfrm flipH="1">
                  <a:off x="2514600" y="2095500"/>
                  <a:ext cx="1447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Arrow Connector 121"/>
                <p:cNvCxnSpPr/>
                <p:nvPr/>
              </p:nvCxnSpPr>
              <p:spPr>
                <a:xfrm>
                  <a:off x="2514600" y="2095500"/>
                  <a:ext cx="0" cy="37992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6" name="Straight Connector 125"/>
              <p:cNvCxnSpPr/>
              <p:nvPr/>
            </p:nvCxnSpPr>
            <p:spPr>
              <a:xfrm flipH="1" flipV="1">
                <a:off x="6054304" y="3416778"/>
                <a:ext cx="727496" cy="160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Rectangle 127"/>
              <p:cNvSpPr/>
              <p:nvPr/>
            </p:nvSpPr>
            <p:spPr>
              <a:xfrm>
                <a:off x="6333226" y="3656772"/>
                <a:ext cx="914399" cy="31561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Step 10</a:t>
                </a:r>
              </a:p>
            </p:txBody>
          </p:sp>
        </p:grpSp>
        <p:cxnSp>
          <p:nvCxnSpPr>
            <p:cNvPr id="132" name="Straight Arrow Connector 131"/>
            <p:cNvCxnSpPr/>
            <p:nvPr/>
          </p:nvCxnSpPr>
          <p:spPr>
            <a:xfrm>
              <a:off x="6781800" y="2975396"/>
              <a:ext cx="0" cy="2248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/>
            <p:cNvCxnSpPr/>
            <p:nvPr/>
          </p:nvCxnSpPr>
          <p:spPr>
            <a:xfrm>
              <a:off x="6248400" y="5448300"/>
              <a:ext cx="1135698" cy="0"/>
            </a:xfrm>
            <a:prstGeom prst="straightConnector1">
              <a:avLst/>
            </a:prstGeom>
            <a:ln w="28575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Rectangle 145"/>
            <p:cNvSpPr/>
            <p:nvPr/>
          </p:nvSpPr>
          <p:spPr>
            <a:xfrm>
              <a:off x="3805676" y="2975396"/>
              <a:ext cx="160020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b="1" dirty="0">
                  <a:latin typeface="+mn-lt"/>
                </a:rPr>
                <a:t>Training mode</a:t>
              </a:r>
              <a:endParaRPr lang="en-IN" sz="900" b="1" dirty="0">
                <a:latin typeface="+mn-lt"/>
              </a:endParaRPr>
            </a:p>
          </p:txBody>
        </p:sp>
        <p:grpSp>
          <p:nvGrpSpPr>
            <p:cNvPr id="149" name="Group 148"/>
            <p:cNvGrpSpPr/>
            <p:nvPr/>
          </p:nvGrpSpPr>
          <p:grpSpPr>
            <a:xfrm>
              <a:off x="2422582" y="5244144"/>
              <a:ext cx="381000" cy="381000"/>
              <a:chOff x="2286000" y="5143500"/>
              <a:chExt cx="381000" cy="381000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2286000" y="5143500"/>
                <a:ext cx="381000" cy="381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47" name="Flowchart: Connector 146"/>
              <p:cNvSpPr/>
              <p:nvPr/>
            </p:nvSpPr>
            <p:spPr>
              <a:xfrm>
                <a:off x="2362200" y="5219700"/>
                <a:ext cx="228600" cy="228600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cxnSp>
          <p:nvCxnSpPr>
            <p:cNvPr id="152" name="Straight Arrow Connector 151"/>
            <p:cNvCxnSpPr>
              <a:stCxn id="162" idx="2"/>
              <a:endCxn id="148" idx="0"/>
            </p:cNvCxnSpPr>
            <p:nvPr/>
          </p:nvCxnSpPr>
          <p:spPr>
            <a:xfrm>
              <a:off x="2590800" y="4178216"/>
              <a:ext cx="22282" cy="106592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stCxn id="117" idx="1"/>
            </p:cNvCxnSpPr>
            <p:nvPr/>
          </p:nvCxnSpPr>
          <p:spPr>
            <a:xfrm flipH="1" flipV="1">
              <a:off x="2819400" y="5448300"/>
              <a:ext cx="2668870" cy="20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 160"/>
            <p:cNvSpPr/>
            <p:nvPr/>
          </p:nvSpPr>
          <p:spPr>
            <a:xfrm>
              <a:off x="2133600" y="3467100"/>
              <a:ext cx="914399" cy="2539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Step 5</a:t>
              </a: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2133600" y="3924300"/>
              <a:ext cx="914399" cy="2539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Step 6</a:t>
              </a:r>
            </a:p>
          </p:txBody>
        </p:sp>
        <p:cxnSp>
          <p:nvCxnSpPr>
            <p:cNvPr id="163" name="Straight Arrow Connector 162"/>
            <p:cNvCxnSpPr/>
            <p:nvPr/>
          </p:nvCxnSpPr>
          <p:spPr>
            <a:xfrm>
              <a:off x="2590800" y="3695700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/>
            <p:cNvCxnSpPr/>
            <p:nvPr/>
          </p:nvCxnSpPr>
          <p:spPr>
            <a:xfrm flipH="1">
              <a:off x="1184696" y="3602248"/>
              <a:ext cx="938844" cy="0"/>
            </a:xfrm>
            <a:prstGeom prst="straightConnector1">
              <a:avLst/>
            </a:prstGeom>
            <a:ln w="28575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/>
            <p:cNvCxnSpPr/>
            <p:nvPr/>
          </p:nvCxnSpPr>
          <p:spPr>
            <a:xfrm flipH="1">
              <a:off x="1158818" y="4033570"/>
              <a:ext cx="938844" cy="0"/>
            </a:xfrm>
            <a:prstGeom prst="straightConnector1">
              <a:avLst/>
            </a:prstGeom>
            <a:ln w="28575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Rectangle 170"/>
            <p:cNvSpPr/>
            <p:nvPr/>
          </p:nvSpPr>
          <p:spPr>
            <a:xfrm>
              <a:off x="6257026" y="3773334"/>
              <a:ext cx="10668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DGN_04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6324600" y="4263604"/>
              <a:ext cx="10668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DGN_05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6281470" y="4722238"/>
              <a:ext cx="10668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DGN_06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6324600" y="5219700"/>
              <a:ext cx="10668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DGN_07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1066017" y="1865485"/>
              <a:ext cx="10668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DGN_02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</p:grpSp>
      <p:sp>
        <p:nvSpPr>
          <p:cNvPr id="90" name="Rectangle 89"/>
          <p:cNvSpPr/>
          <p:nvPr/>
        </p:nvSpPr>
        <p:spPr>
          <a:xfrm>
            <a:off x="6323175" y="1819898"/>
            <a:ext cx="10668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+mn-lt"/>
              </a:rPr>
              <a:t>DGN_02</a:t>
            </a:r>
            <a:endParaRPr lang="en-IN" sz="1000" b="1" dirty="0">
              <a:solidFill>
                <a:srgbClr val="C00000"/>
              </a:solidFill>
              <a:latin typeface="+mn-lt"/>
            </a:endParaRPr>
          </a:p>
        </p:txBody>
      </p:sp>
      <p:grpSp>
        <p:nvGrpSpPr>
          <p:cNvPr id="91" name="Group 27">
            <a:extLst>
              <a:ext uri="{FF2B5EF4-FFF2-40B4-BE49-F238E27FC236}">
                <a16:creationId xmlns:a16="http://schemas.microsoft.com/office/drawing/2014/main" xmlns="" id="{69E2D819-17D7-3FA5-4EC1-3228E7266A83}"/>
              </a:ext>
            </a:extLst>
          </p:cNvPr>
          <p:cNvGrpSpPr>
            <a:grpSpLocks/>
          </p:cNvGrpSpPr>
          <p:nvPr/>
        </p:nvGrpSpPr>
        <p:grpSpPr bwMode="auto">
          <a:xfrm>
            <a:off x="142489" y="258205"/>
            <a:ext cx="8842375" cy="182563"/>
            <a:chOff x="0" y="0"/>
            <a:chExt cx="9289288" cy="261706"/>
          </a:xfrm>
        </p:grpSpPr>
        <p:sp>
          <p:nvSpPr>
            <p:cNvPr id="92" name="Rectangle 6">
              <a:extLst>
                <a:ext uri="{FF2B5EF4-FFF2-40B4-BE49-F238E27FC236}">
                  <a16:creationId xmlns:a16="http://schemas.microsoft.com/office/drawing/2014/main" xmlns="" id="{D51113D0-0ABE-D529-25FD-E79E75468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3" name="Right Triangle 7">
              <a:extLst>
                <a:ext uri="{FF2B5EF4-FFF2-40B4-BE49-F238E27FC236}">
                  <a16:creationId xmlns:a16="http://schemas.microsoft.com/office/drawing/2014/main" xmlns="" id="{F9EF2403-5940-88BB-F224-1C0D4B22F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511502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76200" y="177904"/>
            <a:ext cx="4038600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C00000"/>
                </a:solidFill>
                <a:latin typeface="+mn-lt"/>
              </a:rPr>
              <a:t>Use Case Diagram (Admin)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92218" y="749911"/>
            <a:ext cx="6299405" cy="4724400"/>
            <a:chOff x="1295400" y="800100"/>
            <a:chExt cx="7102310" cy="4724400"/>
          </a:xfrm>
        </p:grpSpPr>
        <p:sp>
          <p:nvSpPr>
            <p:cNvPr id="41" name="Rectangle 40"/>
            <p:cNvSpPr/>
            <p:nvPr/>
          </p:nvSpPr>
          <p:spPr>
            <a:xfrm>
              <a:off x="3412252" y="800100"/>
              <a:ext cx="1981200" cy="472440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" name="Oval 42"/>
            <p:cNvSpPr/>
            <p:nvPr/>
          </p:nvSpPr>
          <p:spPr>
            <a:xfrm>
              <a:off x="3695700" y="971550"/>
              <a:ext cx="1447800" cy="51435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Login UI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3657600" y="1638300"/>
              <a:ext cx="1447800" cy="51435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Admin login /Student login</a:t>
              </a:r>
              <a:endParaRPr lang="en-IN" sz="1100" dirty="0"/>
            </a:p>
          </p:txBody>
        </p:sp>
        <p:sp>
          <p:nvSpPr>
            <p:cNvPr id="45" name="Oval 44"/>
            <p:cNvSpPr/>
            <p:nvPr/>
          </p:nvSpPr>
          <p:spPr>
            <a:xfrm>
              <a:off x="3657600" y="2247900"/>
              <a:ext cx="1447800" cy="5334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Uploading excel file to DB</a:t>
              </a:r>
              <a:endParaRPr lang="en-IN" sz="1100" dirty="0"/>
            </a:p>
          </p:txBody>
        </p:sp>
        <p:sp>
          <p:nvSpPr>
            <p:cNvPr id="46" name="Oval 45"/>
            <p:cNvSpPr/>
            <p:nvPr/>
          </p:nvSpPr>
          <p:spPr>
            <a:xfrm>
              <a:off x="3657600" y="2857500"/>
              <a:ext cx="1447800" cy="5334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Question Presentation</a:t>
              </a:r>
              <a:endParaRPr lang="en-IN" sz="1100" dirty="0"/>
            </a:p>
          </p:txBody>
        </p:sp>
        <p:sp>
          <p:nvSpPr>
            <p:cNvPr id="47" name="Oval 46"/>
            <p:cNvSpPr/>
            <p:nvPr/>
          </p:nvSpPr>
          <p:spPr>
            <a:xfrm>
              <a:off x="3657600" y="3467100"/>
              <a:ext cx="1447800" cy="5334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Answer Selection</a:t>
              </a:r>
              <a:endParaRPr lang="en-IN" sz="1100" dirty="0"/>
            </a:p>
          </p:txBody>
        </p:sp>
        <p:sp>
          <p:nvSpPr>
            <p:cNvPr id="48" name="Oval 47"/>
            <p:cNvSpPr/>
            <p:nvPr/>
          </p:nvSpPr>
          <p:spPr>
            <a:xfrm>
              <a:off x="3649980" y="4152900"/>
              <a:ext cx="1447800" cy="5334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Navigation Control</a:t>
              </a:r>
              <a:endParaRPr lang="en-IN" sz="1100" dirty="0"/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1295400" y="952500"/>
              <a:ext cx="914400" cy="1600200"/>
              <a:chOff x="6553200" y="800100"/>
              <a:chExt cx="914400" cy="1600200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6553200" y="800100"/>
                <a:ext cx="914400" cy="16002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18" name="Group 17"/>
              <p:cNvGrpSpPr/>
              <p:nvPr/>
            </p:nvGrpSpPr>
            <p:grpSpPr>
              <a:xfrm>
                <a:off x="6781800" y="1104900"/>
                <a:ext cx="457200" cy="971550"/>
                <a:chOff x="1828800" y="1276350"/>
                <a:chExt cx="457200" cy="1219200"/>
              </a:xfrm>
            </p:grpSpPr>
            <p:sp>
              <p:nvSpPr>
                <p:cNvPr id="50" name="Oval 49"/>
                <p:cNvSpPr/>
                <p:nvPr/>
              </p:nvSpPr>
              <p:spPr>
                <a:xfrm>
                  <a:off x="1828800" y="1276350"/>
                  <a:ext cx="457200" cy="381000"/>
                </a:xfrm>
                <a:prstGeom prst="ellipse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51" name="Straight Connector 50"/>
                <p:cNvCxnSpPr>
                  <a:stCxn id="50" idx="4"/>
                </p:cNvCxnSpPr>
                <p:nvPr/>
              </p:nvCxnSpPr>
              <p:spPr>
                <a:xfrm>
                  <a:off x="2057400" y="1657350"/>
                  <a:ext cx="0" cy="533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>
                  <a:off x="1828800" y="1809750"/>
                  <a:ext cx="4572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 flipH="1">
                  <a:off x="1828800" y="2190750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>
                  <a:off x="2057400" y="2190750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5" name="Flowchart: Magnetic Disk 54"/>
            <p:cNvSpPr/>
            <p:nvPr/>
          </p:nvSpPr>
          <p:spPr>
            <a:xfrm>
              <a:off x="7162800" y="2813779"/>
              <a:ext cx="442950" cy="729521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59" name="Straight Arrow Connector 58"/>
            <p:cNvCxnSpPr>
              <a:stCxn id="2" idx="3"/>
              <a:endCxn id="43" idx="2"/>
            </p:cNvCxnSpPr>
            <p:nvPr/>
          </p:nvCxnSpPr>
          <p:spPr>
            <a:xfrm flipV="1">
              <a:off x="2209800" y="1228725"/>
              <a:ext cx="1485900" cy="523875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/>
            <p:cNvSpPr txBox="1"/>
            <p:nvPr/>
          </p:nvSpPr>
          <p:spPr>
            <a:xfrm>
              <a:off x="6859322" y="3694043"/>
              <a:ext cx="153838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latin typeface="+mn-lt"/>
                </a:rPr>
                <a:t>PostgreSQL database</a:t>
              </a:r>
              <a:endParaRPr lang="en-IN" sz="1050" b="1" dirty="0">
                <a:latin typeface="+mn-lt"/>
              </a:endParaRPr>
            </a:p>
          </p:txBody>
        </p:sp>
        <p:sp>
          <p:nvSpPr>
            <p:cNvPr id="70" name="Oval 69"/>
            <p:cNvSpPr/>
            <p:nvPr/>
          </p:nvSpPr>
          <p:spPr>
            <a:xfrm>
              <a:off x="3633789" y="4838700"/>
              <a:ext cx="1447800" cy="5334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Feedback Display</a:t>
              </a:r>
              <a:endParaRPr lang="en-IN" sz="1100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752600" y="4533900"/>
              <a:ext cx="7938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latin typeface="+mn-lt"/>
                </a:rPr>
                <a:t>Excel file</a:t>
              </a:r>
              <a:endParaRPr lang="en-IN" sz="1100" b="1" dirty="0">
                <a:latin typeface="+mn-lt"/>
              </a:endParaRPr>
            </a:p>
          </p:txBody>
        </p:sp>
        <p:cxnSp>
          <p:nvCxnSpPr>
            <p:cNvPr id="23" name="Straight Arrow Connector 22"/>
            <p:cNvCxnSpPr>
              <a:stCxn id="2" idx="3"/>
              <a:endCxn id="44" idx="2"/>
            </p:cNvCxnSpPr>
            <p:nvPr/>
          </p:nvCxnSpPr>
          <p:spPr>
            <a:xfrm>
              <a:off x="2209800" y="1752600"/>
              <a:ext cx="1447800" cy="142875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>
              <a:stCxn id="55" idx="2"/>
            </p:cNvCxnSpPr>
            <p:nvPr/>
          </p:nvCxnSpPr>
          <p:spPr>
            <a:xfrm flipH="1" flipV="1">
              <a:off x="5105402" y="1943102"/>
              <a:ext cx="2057397" cy="123543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/>
            <p:cNvSpPr/>
            <p:nvPr/>
          </p:nvSpPr>
          <p:spPr>
            <a:xfrm rot="20476487">
              <a:off x="2377196" y="1263258"/>
              <a:ext cx="11430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DGN_01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 rot="1720017">
              <a:off x="5461976" y="2129329"/>
              <a:ext cx="10668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DGN_02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66" name="Action Button: Document 65">
              <a:hlinkClick r:id="" action="ppaction://noaction" highlightClick="1"/>
            </p:cNvPr>
            <p:cNvSpPr/>
            <p:nvPr/>
          </p:nvSpPr>
          <p:spPr>
            <a:xfrm>
              <a:off x="1828800" y="3695700"/>
              <a:ext cx="609600" cy="685800"/>
            </a:xfrm>
            <a:prstGeom prst="actionButtonDocumen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496226" y="2570252"/>
              <a:ext cx="64376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latin typeface="+mn-lt"/>
                </a:rPr>
                <a:t>Admin</a:t>
              </a:r>
              <a:endParaRPr lang="en-IN" sz="1100" b="1" dirty="0">
                <a:latin typeface="+mn-lt"/>
              </a:endParaRPr>
            </a:p>
          </p:txBody>
        </p:sp>
        <p:cxnSp>
          <p:nvCxnSpPr>
            <p:cNvPr id="69" name="Straight Arrow Connector 68"/>
            <p:cNvCxnSpPr>
              <a:stCxn id="66" idx="0"/>
              <a:endCxn id="44" idx="2"/>
            </p:cNvCxnSpPr>
            <p:nvPr/>
          </p:nvCxnSpPr>
          <p:spPr>
            <a:xfrm flipV="1">
              <a:off x="2438400" y="1895475"/>
              <a:ext cx="1219200" cy="2143125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66" idx="0"/>
              <a:endCxn id="46" idx="2"/>
            </p:cNvCxnSpPr>
            <p:nvPr/>
          </p:nvCxnSpPr>
          <p:spPr>
            <a:xfrm flipV="1">
              <a:off x="2438400" y="3124200"/>
              <a:ext cx="1219200" cy="914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80"/>
            <p:cNvSpPr/>
            <p:nvPr/>
          </p:nvSpPr>
          <p:spPr>
            <a:xfrm>
              <a:off x="5477908" y="2852809"/>
              <a:ext cx="10668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DGN_04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 rot="19331622">
              <a:off x="2521477" y="3283336"/>
              <a:ext cx="10668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DGN_04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 rot="19000023">
              <a:off x="5258703" y="4175392"/>
              <a:ext cx="10668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DGN_07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cxnSp>
          <p:nvCxnSpPr>
            <p:cNvPr id="12" name="Straight Arrow Connector 11"/>
            <p:cNvCxnSpPr>
              <a:stCxn id="46" idx="6"/>
            </p:cNvCxnSpPr>
            <p:nvPr/>
          </p:nvCxnSpPr>
          <p:spPr>
            <a:xfrm>
              <a:off x="5105400" y="3124200"/>
              <a:ext cx="2014938" cy="76824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70" idx="6"/>
            </p:cNvCxnSpPr>
            <p:nvPr/>
          </p:nvCxnSpPr>
          <p:spPr>
            <a:xfrm flipV="1">
              <a:off x="5081589" y="3162300"/>
              <a:ext cx="2081211" cy="1943100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/>
          <p:cNvSpPr/>
          <p:nvPr/>
        </p:nvSpPr>
        <p:spPr>
          <a:xfrm rot="18163496">
            <a:off x="1225654" y="2689127"/>
            <a:ext cx="100479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+mn-lt"/>
              </a:rPr>
              <a:t>DGN_02</a:t>
            </a:r>
            <a:endParaRPr lang="en-IN" sz="1000" b="1" dirty="0">
              <a:solidFill>
                <a:srgbClr val="C00000"/>
              </a:solidFill>
              <a:latin typeface="+mn-lt"/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5109182" y="560972"/>
            <a:ext cx="4313819" cy="2054278"/>
            <a:chOff x="4964996" y="647700"/>
            <a:chExt cx="4313819" cy="2054278"/>
          </a:xfrm>
        </p:grpSpPr>
        <p:sp>
          <p:nvSpPr>
            <p:cNvPr id="60" name="Rectangle 59"/>
            <p:cNvSpPr/>
            <p:nvPr/>
          </p:nvSpPr>
          <p:spPr>
            <a:xfrm>
              <a:off x="4964996" y="682591"/>
              <a:ext cx="107656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DGN_01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791200" y="647700"/>
              <a:ext cx="3487615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742931" lvl="1" indent="-285750" algn="just">
                <a:buFont typeface="Arial" pitchFamily="34" charset="0"/>
                <a:buChar char="•"/>
              </a:pPr>
              <a:r>
                <a:rPr lang="en-US" sz="900" b="1" dirty="0">
                  <a:latin typeface="+mn-lt"/>
                </a:rPr>
                <a:t>User login page is displayed.</a:t>
              </a:r>
            </a:p>
            <a:p>
              <a:pPr marL="742931" lvl="1" indent="-285750" algn="just">
                <a:buFont typeface="Arial" pitchFamily="34" charset="0"/>
                <a:buChar char="•"/>
              </a:pPr>
              <a:r>
                <a:rPr lang="en-US" sz="900" b="1" dirty="0">
                  <a:latin typeface="+mn-lt"/>
                </a:rPr>
                <a:t>Enter the valid username and password.</a:t>
              </a:r>
            </a:p>
            <a:p>
              <a:pPr marL="742931" lvl="1" indent="-285750" algn="just">
                <a:buFont typeface="Arial" pitchFamily="34" charset="0"/>
                <a:buChar char="•"/>
              </a:pPr>
              <a:r>
                <a:rPr lang="en-US" sz="900" b="1" dirty="0">
                  <a:latin typeface="+mn-lt"/>
                </a:rPr>
                <a:t>Admin UI will be displayed.</a:t>
              </a: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>
              <a:off x="5875946" y="800100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ctangle 77"/>
            <p:cNvSpPr/>
            <p:nvPr/>
          </p:nvSpPr>
          <p:spPr>
            <a:xfrm>
              <a:off x="5034284" y="1243650"/>
              <a:ext cx="100479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DGN_02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cxnSp>
          <p:nvCxnSpPr>
            <p:cNvPr id="79" name="Straight Arrow Connector 78"/>
            <p:cNvCxnSpPr/>
            <p:nvPr/>
          </p:nvCxnSpPr>
          <p:spPr>
            <a:xfrm>
              <a:off x="5905504" y="1359876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/>
            <p:cNvSpPr/>
            <p:nvPr/>
          </p:nvSpPr>
          <p:spPr>
            <a:xfrm>
              <a:off x="5823947" y="1180661"/>
              <a:ext cx="2964691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742931" lvl="1" indent="-285750" algn="just">
                <a:buFont typeface="Arial" pitchFamily="34" charset="0"/>
                <a:buChar char="•"/>
              </a:pPr>
              <a:r>
                <a:rPr lang="en-US" sz="900" b="1" dirty="0">
                  <a:latin typeface="+mn-lt"/>
                </a:rPr>
                <a:t>The admin browses the excel file.</a:t>
              </a:r>
            </a:p>
            <a:p>
              <a:pPr marL="742931" lvl="1" indent="-285750" algn="just">
                <a:buFont typeface="Arial" pitchFamily="34" charset="0"/>
                <a:buChar char="•"/>
              </a:pPr>
              <a:r>
                <a:rPr lang="en-US" sz="900" b="1" dirty="0">
                  <a:latin typeface="+mn-lt"/>
                </a:rPr>
                <a:t>Checks for DB connection and validates the file.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5036767" y="1926008"/>
              <a:ext cx="100479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DGN_04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cxnSp>
          <p:nvCxnSpPr>
            <p:cNvPr id="86" name="Straight Arrow Connector 85"/>
            <p:cNvCxnSpPr/>
            <p:nvPr/>
          </p:nvCxnSpPr>
          <p:spPr>
            <a:xfrm>
              <a:off x="6028346" y="2044224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/>
            <p:cNvSpPr/>
            <p:nvPr/>
          </p:nvSpPr>
          <p:spPr>
            <a:xfrm>
              <a:off x="5917240" y="1852244"/>
              <a:ext cx="299816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algn="just"/>
              <a:r>
                <a:rPr lang="en-US" sz="900" b="1" dirty="0">
                  <a:latin typeface="+mn-lt"/>
                </a:rPr>
                <a:t>Questions are fetched from DB and displayed      In the UI.</a:t>
              </a: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5067300" y="2386650"/>
              <a:ext cx="100479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DGN_07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cxnSp>
          <p:nvCxnSpPr>
            <p:cNvPr id="88" name="Straight Arrow Connector 87"/>
            <p:cNvCxnSpPr/>
            <p:nvPr/>
          </p:nvCxnSpPr>
          <p:spPr>
            <a:xfrm>
              <a:off x="6087208" y="2517532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/>
            <p:cNvSpPr/>
            <p:nvPr/>
          </p:nvSpPr>
          <p:spPr>
            <a:xfrm>
              <a:off x="6083619" y="2332646"/>
              <a:ext cx="25146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31" lvl="1" algn="just"/>
              <a:r>
                <a:rPr lang="en-US" sz="900" b="1" dirty="0">
                  <a:latin typeface="+mn-lt"/>
                </a:rPr>
                <a:t>When user select submit button the result panel will display </a:t>
              </a: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97840" y="5335988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>
                <a:latin typeface="+mn-lt"/>
              </a:rPr>
              <a:t>10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7" name="Rectangle 56"/>
          <p:cNvSpPr/>
          <p:nvPr/>
        </p:nvSpPr>
        <p:spPr>
          <a:xfrm rot="430942">
            <a:off x="1145343" y="1791094"/>
            <a:ext cx="9462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+mn-lt"/>
              </a:rPr>
              <a:t>DGN_02</a:t>
            </a:r>
            <a:endParaRPr lang="en-IN" sz="1000" b="1" dirty="0">
              <a:solidFill>
                <a:srgbClr val="C00000"/>
              </a:solidFill>
              <a:latin typeface="+mn-lt"/>
            </a:endParaRPr>
          </a:p>
        </p:txBody>
      </p:sp>
      <p:grpSp>
        <p:nvGrpSpPr>
          <p:cNvPr id="61" name="Group 27">
            <a:extLst>
              <a:ext uri="{FF2B5EF4-FFF2-40B4-BE49-F238E27FC236}">
                <a16:creationId xmlns:a16="http://schemas.microsoft.com/office/drawing/2014/main" xmlns="" id="{69E2D819-17D7-3FA5-4EC1-3228E7266A83}"/>
              </a:ext>
            </a:extLst>
          </p:cNvPr>
          <p:cNvGrpSpPr>
            <a:grpSpLocks/>
          </p:cNvGrpSpPr>
          <p:nvPr/>
        </p:nvGrpSpPr>
        <p:grpSpPr bwMode="auto">
          <a:xfrm>
            <a:off x="142489" y="312737"/>
            <a:ext cx="8842375" cy="182563"/>
            <a:chOff x="0" y="0"/>
            <a:chExt cx="9289288" cy="261706"/>
          </a:xfrm>
        </p:grpSpPr>
        <p:sp>
          <p:nvSpPr>
            <p:cNvPr id="73" name="Rectangle 6">
              <a:extLst>
                <a:ext uri="{FF2B5EF4-FFF2-40B4-BE49-F238E27FC236}">
                  <a16:creationId xmlns:a16="http://schemas.microsoft.com/office/drawing/2014/main" xmlns="" id="{D51113D0-0ABE-D529-25FD-E79E75468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5" name="Right Triangle 7">
              <a:extLst>
                <a:ext uri="{FF2B5EF4-FFF2-40B4-BE49-F238E27FC236}">
                  <a16:creationId xmlns:a16="http://schemas.microsoft.com/office/drawing/2014/main" xmlns="" id="{F9EF2403-5940-88BB-F224-1C0D4B22F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6898373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190500"/>
            <a:ext cx="5181600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C00000"/>
                </a:solidFill>
                <a:latin typeface="+mn-lt"/>
              </a:rPr>
              <a:t>Use Case Diagram (Student)</a:t>
            </a:r>
          </a:p>
        </p:txBody>
      </p:sp>
      <p:grpSp>
        <p:nvGrpSpPr>
          <p:cNvPr id="3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2" y="404839"/>
            <a:ext cx="8842375" cy="182563"/>
            <a:chOff x="0" y="0"/>
            <a:chExt cx="9289288" cy="261706"/>
          </a:xfrm>
        </p:grpSpPr>
        <p:sp>
          <p:nvSpPr>
            <p:cNvPr id="3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3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  <a:latin typeface="+mn-lt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75651" y="622814"/>
            <a:ext cx="5575580" cy="4495800"/>
            <a:chOff x="381000" y="876300"/>
            <a:chExt cx="5575580" cy="4495800"/>
          </a:xfrm>
        </p:grpSpPr>
        <p:sp>
          <p:nvSpPr>
            <p:cNvPr id="41" name="Rectangle 40"/>
            <p:cNvSpPr/>
            <p:nvPr/>
          </p:nvSpPr>
          <p:spPr>
            <a:xfrm>
              <a:off x="2268478" y="876300"/>
              <a:ext cx="1463882" cy="449580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" name="Oval 42"/>
            <p:cNvSpPr/>
            <p:nvPr/>
          </p:nvSpPr>
          <p:spPr>
            <a:xfrm>
              <a:off x="2488720" y="1044893"/>
              <a:ext cx="1124959" cy="505778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Login UI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2459116" y="1700530"/>
              <a:ext cx="1154563" cy="505778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Admin login /Student login</a:t>
              </a:r>
              <a:endParaRPr lang="en-IN" sz="1000" dirty="0"/>
            </a:p>
          </p:txBody>
        </p:sp>
        <p:sp>
          <p:nvSpPr>
            <p:cNvPr id="45" name="Oval 44"/>
            <p:cNvSpPr/>
            <p:nvPr/>
          </p:nvSpPr>
          <p:spPr>
            <a:xfrm>
              <a:off x="2459116" y="2299970"/>
              <a:ext cx="1154563" cy="52451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Uploading excel file to DB</a:t>
              </a:r>
              <a:endParaRPr lang="en-IN" sz="1100" dirty="0"/>
            </a:p>
          </p:txBody>
        </p:sp>
        <p:sp>
          <p:nvSpPr>
            <p:cNvPr id="46" name="Oval 45"/>
            <p:cNvSpPr/>
            <p:nvPr/>
          </p:nvSpPr>
          <p:spPr>
            <a:xfrm>
              <a:off x="2459116" y="2899410"/>
              <a:ext cx="1124959" cy="52451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Question Presentation</a:t>
              </a:r>
              <a:endParaRPr lang="en-IN" sz="1100" dirty="0"/>
            </a:p>
          </p:txBody>
        </p:sp>
        <p:sp>
          <p:nvSpPr>
            <p:cNvPr id="47" name="Oval 46"/>
            <p:cNvSpPr/>
            <p:nvPr/>
          </p:nvSpPr>
          <p:spPr>
            <a:xfrm>
              <a:off x="2459116" y="3498850"/>
              <a:ext cx="1124959" cy="52451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Answer Selection</a:t>
              </a:r>
              <a:endParaRPr lang="en-IN" sz="1100" dirty="0"/>
            </a:p>
          </p:txBody>
        </p:sp>
        <p:sp>
          <p:nvSpPr>
            <p:cNvPr id="48" name="Oval 47"/>
            <p:cNvSpPr/>
            <p:nvPr/>
          </p:nvSpPr>
          <p:spPr>
            <a:xfrm>
              <a:off x="2453195" y="4173220"/>
              <a:ext cx="1124959" cy="52451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Navigation Control</a:t>
              </a:r>
              <a:endParaRPr lang="en-IN" sz="1100" dirty="0"/>
            </a:p>
          </p:txBody>
        </p:sp>
        <p:sp>
          <p:nvSpPr>
            <p:cNvPr id="55" name="Flowchart: Magnetic Disk 54"/>
            <p:cNvSpPr/>
            <p:nvPr/>
          </p:nvSpPr>
          <p:spPr>
            <a:xfrm>
              <a:off x="5271777" y="2599690"/>
              <a:ext cx="532875" cy="1123950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49338" y="3940026"/>
              <a:ext cx="6479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latin typeface="+mn-lt"/>
                </a:rPr>
                <a:t>Student</a:t>
              </a:r>
              <a:endParaRPr lang="en-IN" sz="1100" dirty="0">
                <a:latin typeface="+mn-lt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271777" y="3823079"/>
              <a:ext cx="6848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+mn-lt"/>
                </a:rPr>
                <a:t>DataBase</a:t>
              </a:r>
              <a:endParaRPr lang="en-IN" sz="1000" b="1" dirty="0">
                <a:latin typeface="+mn-lt"/>
              </a:endParaRPr>
            </a:p>
          </p:txBody>
        </p:sp>
        <p:sp>
          <p:nvSpPr>
            <p:cNvPr id="70" name="Oval 69"/>
            <p:cNvSpPr/>
            <p:nvPr/>
          </p:nvSpPr>
          <p:spPr>
            <a:xfrm>
              <a:off x="2440615" y="4847590"/>
              <a:ext cx="1124959" cy="52451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Feedback Display</a:t>
              </a:r>
              <a:endParaRPr lang="en-IN" sz="1100" dirty="0"/>
            </a:p>
          </p:txBody>
        </p:sp>
        <p:cxnSp>
          <p:nvCxnSpPr>
            <p:cNvPr id="25" name="Straight Arrow Connector 24"/>
            <p:cNvCxnSpPr>
              <a:stCxn id="40" idx="3"/>
            </p:cNvCxnSpPr>
            <p:nvPr/>
          </p:nvCxnSpPr>
          <p:spPr>
            <a:xfrm flipV="1">
              <a:off x="1091500" y="2472690"/>
              <a:ext cx="1391133" cy="561975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40" idx="3"/>
              <a:endCxn id="46" idx="2"/>
            </p:cNvCxnSpPr>
            <p:nvPr/>
          </p:nvCxnSpPr>
          <p:spPr>
            <a:xfrm>
              <a:off x="1091500" y="3034665"/>
              <a:ext cx="1367616" cy="127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stCxn id="40" idx="3"/>
              <a:endCxn id="47" idx="2"/>
            </p:cNvCxnSpPr>
            <p:nvPr/>
          </p:nvCxnSpPr>
          <p:spPr>
            <a:xfrm>
              <a:off x="1091500" y="3034665"/>
              <a:ext cx="1367616" cy="72644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stCxn id="40" idx="3"/>
              <a:endCxn id="48" idx="2"/>
            </p:cNvCxnSpPr>
            <p:nvPr/>
          </p:nvCxnSpPr>
          <p:spPr>
            <a:xfrm>
              <a:off x="1091500" y="3034665"/>
              <a:ext cx="1361695" cy="14008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40" idx="3"/>
              <a:endCxn id="70" idx="2"/>
            </p:cNvCxnSpPr>
            <p:nvPr/>
          </p:nvCxnSpPr>
          <p:spPr>
            <a:xfrm>
              <a:off x="1091500" y="3034665"/>
              <a:ext cx="1349115" cy="207518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 rot="20454491">
              <a:off x="1199146" y="2590596"/>
              <a:ext cx="82891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DGN_03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 rot="183160">
              <a:off x="1434815" y="2879197"/>
              <a:ext cx="82891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DGN_04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 rot="1120643">
              <a:off x="1488510" y="3238055"/>
              <a:ext cx="82891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DGN_05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 rot="2238913">
              <a:off x="1462475" y="3552460"/>
              <a:ext cx="82891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DGN_06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 rot="3340006">
              <a:off x="1400944" y="3957683"/>
              <a:ext cx="104902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DGN_07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964029" y="2942383"/>
              <a:ext cx="82891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DGN_04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 rot="19043755">
              <a:off x="3844082" y="4001975"/>
              <a:ext cx="82891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DGN_07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381000" y="2247899"/>
              <a:ext cx="710500" cy="1573530"/>
              <a:chOff x="6583466" y="747147"/>
              <a:chExt cx="914400" cy="1600200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6583466" y="747147"/>
                <a:ext cx="914400" cy="16002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42" name="Group 41"/>
              <p:cNvGrpSpPr/>
              <p:nvPr/>
            </p:nvGrpSpPr>
            <p:grpSpPr>
              <a:xfrm>
                <a:off x="6781800" y="1104901"/>
                <a:ext cx="457200" cy="971552"/>
                <a:chOff x="1828800" y="1276348"/>
                <a:chExt cx="457200" cy="1219202"/>
              </a:xfrm>
            </p:grpSpPr>
            <p:sp>
              <p:nvSpPr>
                <p:cNvPr id="49" name="Oval 48"/>
                <p:cNvSpPr/>
                <p:nvPr/>
              </p:nvSpPr>
              <p:spPr>
                <a:xfrm>
                  <a:off x="1828800" y="1276348"/>
                  <a:ext cx="457200" cy="381000"/>
                </a:xfrm>
                <a:prstGeom prst="ellipse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50" name="Straight Connector 49"/>
                <p:cNvCxnSpPr>
                  <a:stCxn id="49" idx="4"/>
                </p:cNvCxnSpPr>
                <p:nvPr/>
              </p:nvCxnSpPr>
              <p:spPr>
                <a:xfrm>
                  <a:off x="2057400" y="1657349"/>
                  <a:ext cx="0" cy="533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>
                <a:xfrm>
                  <a:off x="1828800" y="1702604"/>
                  <a:ext cx="4572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 flipH="1">
                  <a:off x="1828800" y="2190750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>
                  <a:off x="2057400" y="2190750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9" name="Straight Arrow Connector 58"/>
            <p:cNvCxnSpPr>
              <a:endCxn id="55" idx="2"/>
            </p:cNvCxnSpPr>
            <p:nvPr/>
          </p:nvCxnSpPr>
          <p:spPr>
            <a:xfrm>
              <a:off x="3554734" y="3161665"/>
              <a:ext cx="1717042" cy="0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endCxn id="55" idx="2"/>
            </p:cNvCxnSpPr>
            <p:nvPr/>
          </p:nvCxnSpPr>
          <p:spPr>
            <a:xfrm flipV="1">
              <a:off x="3554734" y="3161665"/>
              <a:ext cx="1717042" cy="1910715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/>
          <p:cNvSpPr/>
          <p:nvPr/>
        </p:nvSpPr>
        <p:spPr>
          <a:xfrm>
            <a:off x="6004911" y="766372"/>
            <a:ext cx="4572000" cy="7232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31" lvl="1" indent="-285750" algn="just">
              <a:buFont typeface="Arial" pitchFamily="34" charset="0"/>
              <a:buChar char="•"/>
            </a:pPr>
            <a:r>
              <a:rPr lang="en-US" sz="900" b="1" dirty="0">
                <a:latin typeface="+mn-lt"/>
              </a:rPr>
              <a:t>User login page is displayed.</a:t>
            </a:r>
          </a:p>
          <a:p>
            <a:pPr marL="742931" lvl="1" indent="-285750" algn="just">
              <a:buFont typeface="Arial" pitchFamily="34" charset="0"/>
              <a:buChar char="•"/>
            </a:pPr>
            <a:r>
              <a:rPr lang="en-US" sz="900" b="1" dirty="0">
                <a:latin typeface="+mn-lt"/>
              </a:rPr>
              <a:t>Enter the valid username and password.</a:t>
            </a:r>
          </a:p>
          <a:p>
            <a:pPr marL="742931" lvl="1" indent="-285750" algn="just">
              <a:buFont typeface="Arial" pitchFamily="34" charset="0"/>
              <a:buChar char="•"/>
            </a:pPr>
            <a:r>
              <a:rPr lang="en-US" sz="900" b="1" dirty="0">
                <a:latin typeface="+mn-lt"/>
              </a:rPr>
              <a:t>Select exam type (training or exam mode</a:t>
            </a:r>
            <a:r>
              <a:rPr lang="en-US" sz="900" b="1" dirty="0" smtClean="0">
                <a:latin typeface="+mn-lt"/>
              </a:rPr>
              <a:t>).</a:t>
            </a:r>
          </a:p>
          <a:p>
            <a:pPr marL="742931" lvl="1" indent="-285750" algn="just">
              <a:buFont typeface="Arial" pitchFamily="34" charset="0"/>
              <a:buChar char="•"/>
            </a:pPr>
            <a:r>
              <a:rPr lang="en-US" sz="900" b="1" dirty="0" smtClean="0">
                <a:latin typeface="+mn-lt"/>
              </a:rPr>
              <a:t>Login </a:t>
            </a:r>
            <a:r>
              <a:rPr lang="en-US" sz="900" b="1" dirty="0">
                <a:latin typeface="+mn-lt"/>
              </a:rPr>
              <a:t>to take the assessment</a:t>
            </a:r>
            <a:r>
              <a:rPr lang="en-US" sz="1400" dirty="0">
                <a:latin typeface="+mn-lt"/>
              </a:rPr>
              <a:t>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071570" y="766372"/>
            <a:ext cx="3729438" cy="1841573"/>
            <a:chOff x="5265339" y="808645"/>
            <a:chExt cx="3729438" cy="1841573"/>
          </a:xfrm>
        </p:grpSpPr>
        <p:sp>
          <p:nvSpPr>
            <p:cNvPr id="66" name="Rectangle 65"/>
            <p:cNvSpPr/>
            <p:nvPr/>
          </p:nvSpPr>
          <p:spPr>
            <a:xfrm>
              <a:off x="5265339" y="808645"/>
              <a:ext cx="82891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DGN_03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>
              <a:off x="6011254" y="934670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5343283" y="1548583"/>
              <a:ext cx="82891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DGN_04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6078416" y="1661748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5943600" y="1548583"/>
              <a:ext cx="30480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algn="just"/>
              <a:r>
                <a:rPr lang="en-US" sz="900" b="1" dirty="0">
                  <a:latin typeface="+mn-lt"/>
                </a:rPr>
                <a:t>Questions are fetched from DB and displayed In the UI.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334000" y="2171700"/>
              <a:ext cx="82891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00000"/>
                  </a:solidFill>
                  <a:latin typeface="+mn-lt"/>
                </a:rPr>
                <a:t>DGN_05</a:t>
              </a:r>
              <a:endParaRPr lang="en-IN" sz="1000" b="1" dirty="0">
                <a:solidFill>
                  <a:srgbClr val="C00000"/>
                </a:solidFill>
                <a:latin typeface="+mn-lt"/>
              </a:endParaRPr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>
              <a:off x="6081352" y="2288932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6096000" y="2142387"/>
              <a:ext cx="2898777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indent="-171450" algn="just">
                <a:buFont typeface="Arial" pitchFamily="34" charset="0"/>
                <a:buChar char="•"/>
              </a:pPr>
              <a:r>
                <a:rPr lang="en-US" sz="900" b="1" dirty="0">
                  <a:latin typeface="+mn-lt"/>
                </a:rPr>
                <a:t>In training mode if user selects an </a:t>
              </a:r>
              <a:r>
                <a:rPr lang="en-US" sz="900" b="1" dirty="0" smtClean="0">
                  <a:latin typeface="+mn-lt"/>
                </a:rPr>
                <a:t>option, explanation </a:t>
              </a:r>
              <a:r>
                <a:rPr lang="en-US" sz="900" b="1" dirty="0">
                  <a:latin typeface="+mn-lt"/>
                </a:rPr>
                <a:t>is displayed.</a:t>
              </a:r>
            </a:p>
            <a:p>
              <a:pPr lvl="1" indent="-171450" algn="just">
                <a:buFont typeface="Arial" pitchFamily="34" charset="0"/>
                <a:buChar char="•"/>
              </a:pPr>
              <a:r>
                <a:rPr lang="en-US" sz="900" b="1" dirty="0">
                  <a:latin typeface="+mn-lt"/>
                </a:rPr>
                <a:t>In exam mode , the user takes the assessment.</a:t>
              </a:r>
            </a:p>
          </p:txBody>
        </p:sp>
      </p:grpSp>
      <p:sp>
        <p:nvSpPr>
          <p:cNvPr id="81" name="Rectangle 80"/>
          <p:cNvSpPr/>
          <p:nvPr/>
        </p:nvSpPr>
        <p:spPr>
          <a:xfrm>
            <a:off x="5823722" y="3287495"/>
            <a:ext cx="82891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+mn-lt"/>
              </a:rPr>
              <a:t>DGN_06</a:t>
            </a:r>
            <a:endParaRPr lang="en-IN" sz="1000" b="1" dirty="0">
              <a:solidFill>
                <a:srgbClr val="C00000"/>
              </a:solidFill>
              <a:latin typeface="+mn-lt"/>
            </a:endParaRPr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6706908" y="3410606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706908" y="3301563"/>
            <a:ext cx="2133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31" lvl="1" indent="-171450" algn="just">
              <a:buFont typeface="Arial" pitchFamily="34" charset="0"/>
              <a:buChar char="•"/>
            </a:pPr>
            <a:r>
              <a:rPr lang="en-US" sz="900" b="1" dirty="0">
                <a:latin typeface="+mn-lt"/>
              </a:rPr>
              <a:t>The first and last buttons navigate to first and last question respectively.</a:t>
            </a:r>
          </a:p>
          <a:p>
            <a:pPr marL="628631" lvl="1" indent="-171450" algn="just">
              <a:buFont typeface="Arial" pitchFamily="34" charset="0"/>
              <a:buChar char="•"/>
            </a:pPr>
            <a:r>
              <a:rPr lang="en-US" sz="900" b="1" dirty="0">
                <a:latin typeface="+mn-lt"/>
              </a:rPr>
              <a:t>The middle buttons navigate to previous or next question.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02231" y="4321133"/>
            <a:ext cx="82891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+mn-lt"/>
              </a:rPr>
              <a:t>DGN_07</a:t>
            </a:r>
            <a:endParaRPr lang="en-IN" sz="1000" b="1" dirty="0">
              <a:solidFill>
                <a:srgbClr val="C00000"/>
              </a:solidFill>
              <a:latin typeface="+mn-lt"/>
            </a:endParaRPr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6859308" y="4444244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6978578" y="4348528"/>
            <a:ext cx="172053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31" lvl="1" algn="just"/>
            <a:r>
              <a:rPr lang="en-US" sz="900" b="1" dirty="0">
                <a:latin typeface="+mn-lt"/>
              </a:rPr>
              <a:t>When user select submit button the result panel will display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802598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>
                <a:latin typeface="+mn-lt"/>
              </a:rPr>
              <a:t>11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0064285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190500"/>
            <a:ext cx="3810000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C00000"/>
                </a:solidFill>
              </a:rPr>
              <a:t>Class Diagram (Admin)</a:t>
            </a:r>
          </a:p>
        </p:txBody>
      </p:sp>
      <p:grpSp>
        <p:nvGrpSpPr>
          <p:cNvPr id="3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3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569133"/>
              </p:ext>
            </p:extLst>
          </p:nvPr>
        </p:nvGraphicFramePr>
        <p:xfrm>
          <a:off x="3886200" y="1104900"/>
          <a:ext cx="1752600" cy="990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3546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Admin login</a:t>
                      </a:r>
                      <a:endParaRPr lang="en-IN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41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-LoginPage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000" dirty="0"/>
                        <a:t>+ actionPerformed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642362"/>
              </p:ext>
            </p:extLst>
          </p:nvPr>
        </p:nvGraphicFramePr>
        <p:xfrm>
          <a:off x="5257800" y="2567755"/>
          <a:ext cx="1676400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Question Presentation &amp; Answer Section</a:t>
                      </a:r>
                      <a:endParaRPr lang="en-IN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+Question</a:t>
                      </a:r>
                    </a:p>
                    <a:p>
                      <a:pPr algn="l"/>
                      <a:r>
                        <a:rPr lang="en-US" sz="1000" dirty="0"/>
                        <a:t>+OptionPanel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000" dirty="0"/>
                        <a:t>+displayQuestion()</a:t>
                      </a:r>
                    </a:p>
                    <a:p>
                      <a:r>
                        <a:rPr lang="en-US" sz="1000" dirty="0"/>
                        <a:t>+submitExam() </a:t>
                      </a:r>
                      <a:endParaRPr lang="en-IN" sz="1000" dirty="0"/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130253"/>
              </p:ext>
            </p:extLst>
          </p:nvPr>
        </p:nvGraphicFramePr>
        <p:xfrm>
          <a:off x="1447800" y="2415355"/>
          <a:ext cx="1752600" cy="2042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3546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Uploading</a:t>
                      </a:r>
                      <a:r>
                        <a:rPr lang="en-US" sz="1000" b="1" baseline="0" dirty="0"/>
                        <a:t> excel to DB</a:t>
                      </a:r>
                      <a:endParaRPr lang="en-IN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- filePathTextField</a:t>
                      </a:r>
                    </a:p>
                    <a:p>
                      <a:r>
                        <a:rPr lang="en-US" sz="1000" dirty="0"/>
                        <a:t>-browseButton</a:t>
                      </a:r>
                    </a:p>
                    <a:p>
                      <a:r>
                        <a:rPr lang="en-US" sz="1000" dirty="0"/>
                        <a:t>-checkDbButton</a:t>
                      </a:r>
                    </a:p>
                    <a:p>
                      <a:r>
                        <a:rPr lang="en-US" sz="1000" dirty="0"/>
                        <a:t>-validateFileButton</a:t>
                      </a:r>
                    </a:p>
                    <a:p>
                      <a:r>
                        <a:rPr lang="en-US" sz="1000" dirty="0"/>
                        <a:t>-transferDataButton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IN" sz="1000" dirty="0"/>
                        <a:t>+examdata()</a:t>
                      </a:r>
                    </a:p>
                    <a:p>
                      <a:r>
                        <a:rPr lang="en-US" sz="1000" dirty="0"/>
                        <a:t>+connectToDatabase()</a:t>
                      </a:r>
                    </a:p>
                    <a:p>
                      <a:r>
                        <a:rPr lang="en-US" sz="1000" dirty="0"/>
                        <a:t>+</a:t>
                      </a:r>
                      <a:r>
                        <a:rPr lang="en-IN" sz="1000" dirty="0"/>
                        <a:t>validateExcelFile()</a:t>
                      </a:r>
                    </a:p>
                    <a:p>
                      <a:r>
                        <a:rPr lang="en-US" sz="1000" dirty="0"/>
                        <a:t>+transferDataToDatabase()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3200400" y="2110555"/>
            <a:ext cx="1588770" cy="914399"/>
            <a:chOff x="2520382" y="2348568"/>
            <a:chExt cx="1607856" cy="901008"/>
          </a:xfrm>
        </p:grpSpPr>
        <p:cxnSp>
          <p:nvCxnSpPr>
            <p:cNvPr id="31" name="Straight Connector 30"/>
            <p:cNvCxnSpPr>
              <a:endCxn id="32" idx="0"/>
            </p:cNvCxnSpPr>
            <p:nvPr/>
          </p:nvCxnSpPr>
          <p:spPr>
            <a:xfrm flipH="1">
              <a:off x="2880514" y="2348568"/>
              <a:ext cx="1247724" cy="7690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32" name="Diamond 31"/>
            <p:cNvSpPr/>
            <p:nvPr/>
          </p:nvSpPr>
          <p:spPr>
            <a:xfrm rot="4096467">
              <a:off x="2650971" y="3006772"/>
              <a:ext cx="112215" cy="373394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200400" y="3405955"/>
            <a:ext cx="2045061" cy="109339"/>
            <a:chOff x="3189134" y="2942526"/>
            <a:chExt cx="2045061" cy="109339"/>
          </a:xfrm>
        </p:grpSpPr>
        <p:cxnSp>
          <p:nvCxnSpPr>
            <p:cNvPr id="43" name="Straight Connector 42"/>
            <p:cNvCxnSpPr>
              <a:endCxn id="44" idx="0"/>
            </p:cNvCxnSpPr>
            <p:nvPr/>
          </p:nvCxnSpPr>
          <p:spPr>
            <a:xfrm>
              <a:off x="3189134" y="2947349"/>
              <a:ext cx="1537173" cy="40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44" name="Diamond 43"/>
            <p:cNvSpPr/>
            <p:nvPr/>
          </p:nvSpPr>
          <p:spPr>
            <a:xfrm rot="16319921">
              <a:off x="4925504" y="2743174"/>
              <a:ext cx="109339" cy="508043"/>
            </a:xfrm>
            <a:prstGeom prst="diamond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0000"/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038600" y="300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733800" y="2476500"/>
            <a:ext cx="2600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</a:t>
            </a:r>
            <a:endParaRPr lang="en-IN" sz="1050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0" y="3209925"/>
            <a:ext cx="3866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1..*</a:t>
            </a:r>
            <a:endParaRPr lang="en-IN" sz="105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56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12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261604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300" y="190500"/>
            <a:ext cx="4114800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C00000"/>
                </a:solidFill>
              </a:rPr>
              <a:t>Class Diagram (Student)</a:t>
            </a:r>
          </a:p>
        </p:txBody>
      </p:sp>
      <p:grpSp>
        <p:nvGrpSpPr>
          <p:cNvPr id="3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3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132613"/>
              </p:ext>
            </p:extLst>
          </p:nvPr>
        </p:nvGraphicFramePr>
        <p:xfrm>
          <a:off x="838200" y="3086100"/>
          <a:ext cx="1676400" cy="134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Question Presentation </a:t>
                      </a:r>
                      <a:endParaRPr lang="en-IN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+Question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000" dirty="0"/>
                        <a:t>+displayQuestion()</a:t>
                      </a:r>
                    </a:p>
                    <a:p>
                      <a:r>
                        <a:rPr lang="en-US" sz="1000" dirty="0"/>
                        <a:t>+submitExam() </a:t>
                      </a:r>
                      <a:endParaRPr lang="en-IN" sz="1000" dirty="0"/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491467"/>
              </p:ext>
            </p:extLst>
          </p:nvPr>
        </p:nvGraphicFramePr>
        <p:xfrm>
          <a:off x="2948940" y="985970"/>
          <a:ext cx="1699260" cy="94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92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Student login</a:t>
                      </a:r>
                      <a:endParaRPr lang="en-IN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-LoginPage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IN" sz="1000" dirty="0"/>
                        <a:t>+actionPerformed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898764"/>
              </p:ext>
            </p:extLst>
          </p:nvPr>
        </p:nvGraphicFramePr>
        <p:xfrm>
          <a:off x="4191000" y="2964180"/>
          <a:ext cx="1676400" cy="18029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Navigation</a:t>
                      </a:r>
                      <a:r>
                        <a:rPr lang="en-US" sz="1000" b="1" baseline="0" dirty="0"/>
                        <a:t> Control</a:t>
                      </a:r>
                      <a:endParaRPr lang="en-IN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07755"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  <a:r>
                        <a:rPr lang="en-US" sz="1000" dirty="0"/>
                        <a:t>previousButton ()</a:t>
                      </a:r>
                    </a:p>
                    <a:p>
                      <a:r>
                        <a:rPr lang="en-US" sz="1000" dirty="0"/>
                        <a:t>-nextButton()</a:t>
                      </a:r>
                    </a:p>
                    <a:p>
                      <a:r>
                        <a:rPr lang="en-US" sz="1000" dirty="0"/>
                        <a:t>-firstButton()</a:t>
                      </a:r>
                    </a:p>
                    <a:p>
                      <a:r>
                        <a:rPr lang="en-US" sz="1000" dirty="0"/>
                        <a:t>-lastButton()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97069">
                <a:tc>
                  <a:txBody>
                    <a:bodyPr/>
                    <a:lstStyle/>
                    <a:p>
                      <a:r>
                        <a:rPr lang="en-US" sz="1000" dirty="0"/>
                        <a:t>-showPreviousQuestion()</a:t>
                      </a:r>
                    </a:p>
                    <a:p>
                      <a:r>
                        <a:rPr lang="en-US" sz="1000" dirty="0"/>
                        <a:t>-showNextQuestion()</a:t>
                      </a:r>
                    </a:p>
                    <a:p>
                      <a:r>
                        <a:rPr lang="en-US" sz="1000" dirty="0"/>
                        <a:t>-showFirstQuestion() </a:t>
                      </a:r>
                    </a:p>
                    <a:p>
                      <a:r>
                        <a:rPr lang="en-US" sz="1000" dirty="0"/>
                        <a:t>-showLastQuestion()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032326"/>
              </p:ext>
            </p:extLst>
          </p:nvPr>
        </p:nvGraphicFramePr>
        <p:xfrm>
          <a:off x="6705600" y="3345180"/>
          <a:ext cx="1752600" cy="1440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Feedback </a:t>
                      </a:r>
                      <a:r>
                        <a:rPr lang="en-US" sz="1000" b="1" baseline="0" dirty="0"/>
                        <a:t> Display</a:t>
                      </a:r>
                      <a:endParaRPr lang="en-IN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64540">
                <a:tc>
                  <a:txBody>
                    <a:bodyPr/>
                    <a:lstStyle/>
                    <a:p>
                      <a:r>
                        <a:rPr lang="en-IN" sz="1400" dirty="0"/>
                        <a:t>-</a:t>
                      </a:r>
                      <a:r>
                        <a:rPr lang="en-IN" sz="1000" dirty="0"/>
                        <a:t>totalQuestions : int</a:t>
                      </a:r>
                    </a:p>
                    <a:p>
                      <a:r>
                        <a:rPr lang="en-US" sz="1000" dirty="0"/>
                        <a:t>-totalQuestions : int</a:t>
                      </a:r>
                    </a:p>
                    <a:p>
                      <a:r>
                        <a:rPr lang="en-US" sz="1000" dirty="0"/>
                        <a:t>-answeredQuestions : int</a:t>
                      </a:r>
                    </a:p>
                    <a:p>
                      <a:r>
                        <a:rPr lang="en-US" sz="1000" dirty="0"/>
                        <a:t>-incorrectAnswers</a:t>
                      </a:r>
                      <a:r>
                        <a:rPr lang="en-US" sz="1000" baseline="0" dirty="0"/>
                        <a:t> : int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00" dirty="0"/>
                        <a:t>+displayResults()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1828804" y="1930850"/>
            <a:ext cx="1969766" cy="1124787"/>
            <a:chOff x="2520382" y="2219800"/>
            <a:chExt cx="1539368" cy="1029776"/>
          </a:xfrm>
        </p:grpSpPr>
        <p:cxnSp>
          <p:nvCxnSpPr>
            <p:cNvPr id="18" name="Straight Connector 17"/>
            <p:cNvCxnSpPr>
              <a:stCxn id="40" idx="2"/>
              <a:endCxn id="20" idx="0"/>
            </p:cNvCxnSpPr>
            <p:nvPr/>
          </p:nvCxnSpPr>
          <p:spPr>
            <a:xfrm flipH="1">
              <a:off x="2880514" y="2219800"/>
              <a:ext cx="1179236" cy="892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20" name="Diamond 19"/>
            <p:cNvSpPr/>
            <p:nvPr/>
          </p:nvSpPr>
          <p:spPr>
            <a:xfrm rot="4096467">
              <a:off x="2650971" y="3006772"/>
              <a:ext cx="112215" cy="373394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408793"/>
              </p:ext>
            </p:extLst>
          </p:nvPr>
        </p:nvGraphicFramePr>
        <p:xfrm>
          <a:off x="5638800" y="1104900"/>
          <a:ext cx="1676400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Answer Selection</a:t>
                      </a:r>
                      <a:endParaRPr lang="en-IN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+OptionPanel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000" dirty="0"/>
                        <a:t>+displayQuestion()</a:t>
                      </a:r>
                    </a:p>
                    <a:p>
                      <a:r>
                        <a:rPr lang="en-US" sz="1000" dirty="0"/>
                        <a:t>+submitExam() </a:t>
                      </a:r>
                      <a:endParaRPr lang="en-IN" sz="1000" dirty="0"/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43" name="Straight Connector 42"/>
          <p:cNvCxnSpPr>
            <a:stCxn id="56" idx="3"/>
          </p:cNvCxnSpPr>
          <p:nvPr/>
        </p:nvCxnSpPr>
        <p:spPr>
          <a:xfrm>
            <a:off x="5867400" y="3865634"/>
            <a:ext cx="838200" cy="12946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grpSp>
        <p:nvGrpSpPr>
          <p:cNvPr id="66" name="Group 65"/>
          <p:cNvGrpSpPr/>
          <p:nvPr/>
        </p:nvGrpSpPr>
        <p:grpSpPr>
          <a:xfrm>
            <a:off x="2514600" y="3866000"/>
            <a:ext cx="1664058" cy="134500"/>
            <a:chOff x="3189136" y="2942526"/>
            <a:chExt cx="2045059" cy="109339"/>
          </a:xfrm>
        </p:grpSpPr>
        <p:cxnSp>
          <p:nvCxnSpPr>
            <p:cNvPr id="67" name="Straight Connector 66"/>
            <p:cNvCxnSpPr>
              <a:endCxn id="68" idx="0"/>
            </p:cNvCxnSpPr>
            <p:nvPr/>
          </p:nvCxnSpPr>
          <p:spPr>
            <a:xfrm>
              <a:off x="3189136" y="2947350"/>
              <a:ext cx="1537174" cy="40986"/>
            </a:xfrm>
            <a:prstGeom prst="lin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8" name="Diamond 67"/>
            <p:cNvSpPr/>
            <p:nvPr/>
          </p:nvSpPr>
          <p:spPr>
            <a:xfrm rot="16319921">
              <a:off x="4925504" y="2743174"/>
              <a:ext cx="109339" cy="508043"/>
            </a:xfrm>
            <a:prstGeom prst="diamond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 rot="1505233">
            <a:off x="5862238" y="2616687"/>
            <a:ext cx="1739218" cy="605921"/>
            <a:chOff x="3261969" y="2467191"/>
            <a:chExt cx="1956561" cy="1047063"/>
          </a:xfrm>
        </p:grpSpPr>
        <p:cxnSp>
          <p:nvCxnSpPr>
            <p:cNvPr id="71" name="Straight Connector 70"/>
            <p:cNvCxnSpPr>
              <a:endCxn id="72" idx="0"/>
            </p:cNvCxnSpPr>
            <p:nvPr/>
          </p:nvCxnSpPr>
          <p:spPr>
            <a:xfrm rot="20094767">
              <a:off x="3261969" y="2467191"/>
              <a:ext cx="1361689" cy="1047063"/>
            </a:xfrm>
            <a:prstGeom prst="lin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2" name="Diamond 71"/>
            <p:cNvSpPr/>
            <p:nvPr/>
          </p:nvSpPr>
          <p:spPr>
            <a:xfrm rot="16319921">
              <a:off x="4845888" y="2800083"/>
              <a:ext cx="237241" cy="508042"/>
            </a:xfrm>
            <a:prstGeom prst="diamond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0000"/>
                </a:solidFill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514600" y="2400300"/>
            <a:ext cx="2600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</a:t>
            </a:r>
            <a:endParaRPr lang="en-IN" sz="1050" dirty="0"/>
          </a:p>
        </p:txBody>
      </p:sp>
      <p:sp>
        <p:nvSpPr>
          <p:cNvPr id="24" name="TextBox 23"/>
          <p:cNvSpPr txBox="1"/>
          <p:nvPr/>
        </p:nvSpPr>
        <p:spPr>
          <a:xfrm>
            <a:off x="6576696" y="2688722"/>
            <a:ext cx="2600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</a:t>
            </a:r>
            <a:endParaRPr lang="en-IN" sz="1050" dirty="0"/>
          </a:p>
        </p:txBody>
      </p:sp>
      <p:sp>
        <p:nvSpPr>
          <p:cNvPr id="25" name="TextBox 24"/>
          <p:cNvSpPr txBox="1"/>
          <p:nvPr/>
        </p:nvSpPr>
        <p:spPr>
          <a:xfrm>
            <a:off x="2895600" y="3670776"/>
            <a:ext cx="3866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1..*</a:t>
            </a:r>
            <a:endParaRPr lang="en-IN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810862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13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329486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222594" y="1028701"/>
            <a:ext cx="6659329" cy="3959966"/>
            <a:chOff x="1377781" y="545572"/>
            <a:chExt cx="6659329" cy="4751960"/>
          </a:xfrm>
        </p:grpSpPr>
        <p:sp>
          <p:nvSpPr>
            <p:cNvPr id="5" name="TextBox 4"/>
            <p:cNvSpPr txBox="1"/>
            <p:nvPr/>
          </p:nvSpPr>
          <p:spPr>
            <a:xfrm>
              <a:off x="1377781" y="1104331"/>
              <a:ext cx="609600" cy="295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u="sng" dirty="0">
                  <a:latin typeface="+mn-lt"/>
                </a:rPr>
                <a:t>Admin</a:t>
              </a:r>
              <a:endParaRPr lang="en-IN" sz="1000" u="sng" dirty="0">
                <a:latin typeface="+mn-lt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493174" y="545572"/>
              <a:ext cx="391175" cy="583620"/>
              <a:chOff x="329373" y="1189241"/>
              <a:chExt cx="457650" cy="575490"/>
            </a:xfrm>
          </p:grpSpPr>
          <p:sp>
            <p:nvSpPr>
              <p:cNvPr id="62" name="Oval 61"/>
              <p:cNvSpPr/>
              <p:nvPr/>
            </p:nvSpPr>
            <p:spPr>
              <a:xfrm>
                <a:off x="427441" y="1189241"/>
                <a:ext cx="261515" cy="24338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63" name="Straight Connector 62"/>
              <p:cNvCxnSpPr/>
              <p:nvPr/>
            </p:nvCxnSpPr>
            <p:spPr>
              <a:xfrm>
                <a:off x="566371" y="1432625"/>
                <a:ext cx="0" cy="240777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 flipV="1">
                <a:off x="435614" y="1665099"/>
                <a:ext cx="130757" cy="99632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566371" y="1665099"/>
                <a:ext cx="130757" cy="99632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29373" y="1499046"/>
                <a:ext cx="45765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 6"/>
            <p:cNvSpPr/>
            <p:nvPr/>
          </p:nvSpPr>
          <p:spPr>
            <a:xfrm>
              <a:off x="3124200" y="876300"/>
              <a:ext cx="1281006" cy="230735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LoginPage</a:t>
              </a:r>
            </a:p>
          </p:txBody>
        </p:sp>
        <p:cxnSp>
          <p:nvCxnSpPr>
            <p:cNvPr id="8" name="Straight Connector 7"/>
            <p:cNvCxnSpPr>
              <a:stCxn id="7" idx="2"/>
            </p:cNvCxnSpPr>
            <p:nvPr/>
          </p:nvCxnSpPr>
          <p:spPr>
            <a:xfrm flipH="1">
              <a:off x="3755784" y="1107035"/>
              <a:ext cx="8919" cy="4188865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677325" y="1625674"/>
              <a:ext cx="145376" cy="313682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1783383" y="1636068"/>
              <a:ext cx="1892199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3820627" y="2253597"/>
              <a:ext cx="207320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 smtClean="0">
                  <a:latin typeface="+mn-lt"/>
                </a:rPr>
                <a:t>2 : </a:t>
              </a:r>
              <a:r>
                <a:rPr lang="en-IN" sz="900" b="1" dirty="0" err="1" smtClean="0">
                  <a:latin typeface="+mn-lt"/>
                </a:rPr>
                <a:t>isValidCredentials</a:t>
              </a:r>
              <a:r>
                <a:rPr lang="en-IN" sz="900" b="1" dirty="0">
                  <a:latin typeface="+mn-lt"/>
                </a:rPr>
                <a:t>()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617298" y="4366642"/>
              <a:ext cx="155490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 smtClean="0">
                  <a:latin typeface="+mn-lt"/>
                </a:rPr>
                <a:t>8 : logout</a:t>
              </a:r>
              <a:r>
                <a:rPr lang="en-IN" sz="900" b="1" dirty="0">
                  <a:latin typeface="+mn-lt"/>
                </a:rPr>
                <a:t>()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 flipV="1">
              <a:off x="3822701" y="4607868"/>
              <a:ext cx="2109948" cy="2232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3822701" y="2781300"/>
              <a:ext cx="2109947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5" idx="2"/>
            </p:cNvCxnSpPr>
            <p:nvPr/>
          </p:nvCxnSpPr>
          <p:spPr>
            <a:xfrm>
              <a:off x="1682581" y="1399796"/>
              <a:ext cx="6181" cy="3865288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1602385" y="1625674"/>
              <a:ext cx="160391" cy="43692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10000" y="1485900"/>
              <a:ext cx="1203747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 smtClean="0">
                  <a:latin typeface="+mn-lt"/>
                </a:rPr>
                <a:t>1 : </a:t>
              </a:r>
              <a:r>
                <a:rPr lang="en-IN" sz="900" b="1" dirty="0" err="1" smtClean="0">
                  <a:latin typeface="+mn-lt"/>
                </a:rPr>
                <a:t>LoginPageUI</a:t>
              </a:r>
              <a:r>
                <a:rPr lang="en-IN" sz="900" b="1" dirty="0">
                  <a:latin typeface="+mn-lt"/>
                </a:rPr>
                <a:t>()</a:t>
              </a: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3826503" y="2475637"/>
              <a:ext cx="516897" cy="153263"/>
              <a:chOff x="6705600" y="2933700"/>
              <a:chExt cx="762000" cy="228600"/>
            </a:xfrm>
          </p:grpSpPr>
          <p:cxnSp>
            <p:nvCxnSpPr>
              <p:cNvPr id="56" name="Straight Connector 55"/>
              <p:cNvCxnSpPr/>
              <p:nvPr/>
            </p:nvCxnSpPr>
            <p:spPr>
              <a:xfrm>
                <a:off x="6705600" y="2933700"/>
                <a:ext cx="7620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7467600" y="2933700"/>
                <a:ext cx="0" cy="22860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/>
              <p:nvPr/>
            </p:nvCxnSpPr>
            <p:spPr>
              <a:xfrm flipH="1">
                <a:off x="6705600" y="3162300"/>
                <a:ext cx="762000" cy="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/>
            <p:cNvSpPr txBox="1"/>
            <p:nvPr/>
          </p:nvSpPr>
          <p:spPr>
            <a:xfrm>
              <a:off x="6067567" y="3087939"/>
              <a:ext cx="1828800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 smtClean="0">
                  <a:latin typeface="+mn-lt"/>
                </a:rPr>
                <a:t>4 : Browse </a:t>
              </a:r>
              <a:r>
                <a:rPr lang="en-IN" sz="900" b="1" dirty="0">
                  <a:latin typeface="+mn-lt"/>
                </a:rPr>
                <a:t>excel file()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37288" y="4197752"/>
              <a:ext cx="1844634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>
                  <a:latin typeface="+mn-lt"/>
                </a:rPr>
                <a:t> </a:t>
              </a:r>
              <a:r>
                <a:rPr lang="en-IN" sz="900" b="1" dirty="0" smtClean="0">
                  <a:latin typeface="+mn-lt"/>
                </a:rPr>
                <a:t>7 : </a:t>
              </a:r>
              <a:r>
                <a:rPr lang="en-IN" sz="900" b="1" dirty="0" err="1" smtClean="0">
                  <a:latin typeface="+mn-lt"/>
                </a:rPr>
                <a:t>transferToDatabase</a:t>
              </a:r>
              <a:r>
                <a:rPr lang="en-IN" sz="900" b="1" dirty="0">
                  <a:latin typeface="+mn-lt"/>
                </a:rPr>
                <a:t>()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314958" y="876300"/>
              <a:ext cx="1371601" cy="23287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 smtClean="0"/>
                <a:t>exceltopostgreSql</a:t>
              </a:r>
              <a:endParaRPr lang="en-IN" sz="10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051601" y="3465549"/>
              <a:ext cx="165856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 smtClean="0">
                  <a:latin typeface="+mn-lt"/>
                </a:rPr>
                <a:t>5 : </a:t>
              </a:r>
              <a:r>
                <a:rPr lang="en-IN" sz="900" b="1" dirty="0" err="1" smtClean="0">
                  <a:latin typeface="+mn-lt"/>
                </a:rPr>
                <a:t>ConnectToDB</a:t>
              </a:r>
              <a:r>
                <a:rPr lang="en-IN" sz="900" b="1" dirty="0">
                  <a:latin typeface="+mn-lt"/>
                </a:rPr>
                <a:t>()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067567" y="3827060"/>
              <a:ext cx="196954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 smtClean="0">
                  <a:latin typeface="+mn-lt"/>
                </a:rPr>
                <a:t>6 : </a:t>
              </a:r>
              <a:r>
                <a:rPr lang="en-IN" sz="900" b="1" dirty="0" err="1" smtClean="0">
                  <a:latin typeface="+mn-lt"/>
                </a:rPr>
                <a:t>ValidateExcelFile</a:t>
              </a:r>
              <a:r>
                <a:rPr lang="en-IN" sz="900" b="1" dirty="0">
                  <a:latin typeface="+mn-lt"/>
                </a:rPr>
                <a:t>()</a:t>
              </a:r>
            </a:p>
          </p:txBody>
        </p:sp>
        <p:cxnSp>
          <p:nvCxnSpPr>
            <p:cNvPr id="26" name="Straight Connector 25"/>
            <p:cNvCxnSpPr>
              <a:stCxn id="23" idx="2"/>
            </p:cNvCxnSpPr>
            <p:nvPr/>
          </p:nvCxnSpPr>
          <p:spPr>
            <a:xfrm>
              <a:off x="6000759" y="1109179"/>
              <a:ext cx="16507" cy="4188353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5943600" y="2797619"/>
              <a:ext cx="168234" cy="181782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6122924" y="3312824"/>
              <a:ext cx="430276" cy="154276"/>
              <a:chOff x="6705600" y="2933700"/>
              <a:chExt cx="762000" cy="228600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6705600" y="2933700"/>
                <a:ext cx="7620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7467600" y="2933700"/>
                <a:ext cx="0" cy="22860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>
              <a:xfrm flipH="1">
                <a:off x="6705600" y="3162300"/>
                <a:ext cx="762000" cy="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6122924" y="3666471"/>
              <a:ext cx="430276" cy="160589"/>
              <a:chOff x="6705600" y="2933700"/>
              <a:chExt cx="762000" cy="228600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>
                <a:off x="6705600" y="2933700"/>
                <a:ext cx="7620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7467600" y="2933700"/>
                <a:ext cx="0" cy="22860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/>
              <p:cNvCxnSpPr/>
              <p:nvPr/>
            </p:nvCxnSpPr>
            <p:spPr>
              <a:xfrm flipH="1">
                <a:off x="6705600" y="3162300"/>
                <a:ext cx="762000" cy="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/>
            <p:cNvGrpSpPr/>
            <p:nvPr/>
          </p:nvGrpSpPr>
          <p:grpSpPr>
            <a:xfrm>
              <a:off x="6122924" y="4381500"/>
              <a:ext cx="430276" cy="160589"/>
              <a:chOff x="6705600" y="2933700"/>
              <a:chExt cx="762000" cy="228600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>
                <a:off x="6705600" y="2933700"/>
                <a:ext cx="7620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7467600" y="2933700"/>
                <a:ext cx="0" cy="22860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/>
              <p:nvPr/>
            </p:nvCxnSpPr>
            <p:spPr>
              <a:xfrm flipH="1">
                <a:off x="6705600" y="3162300"/>
                <a:ext cx="762000" cy="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/>
            <p:cNvGrpSpPr/>
            <p:nvPr/>
          </p:nvGrpSpPr>
          <p:grpSpPr>
            <a:xfrm>
              <a:off x="6122924" y="4037163"/>
              <a:ext cx="457200" cy="160589"/>
              <a:chOff x="6705600" y="2933700"/>
              <a:chExt cx="762000" cy="228600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>
                <a:off x="6705600" y="2933700"/>
                <a:ext cx="7620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7467600" y="2933700"/>
                <a:ext cx="0" cy="22860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 flipH="1">
                <a:off x="6705600" y="3162300"/>
                <a:ext cx="762000" cy="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Straight Arrow Connector 32"/>
            <p:cNvCxnSpPr/>
            <p:nvPr/>
          </p:nvCxnSpPr>
          <p:spPr>
            <a:xfrm flipH="1">
              <a:off x="1682581" y="4761931"/>
              <a:ext cx="1983114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026693" y="4531099"/>
              <a:ext cx="155490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 smtClean="0">
                  <a:latin typeface="+mn-lt"/>
                </a:rPr>
                <a:t>9 : </a:t>
              </a:r>
              <a:r>
                <a:rPr lang="en-IN" sz="900" b="1" dirty="0" err="1" smtClean="0">
                  <a:latin typeface="+mn-lt"/>
                </a:rPr>
                <a:t>closeButton</a:t>
              </a:r>
              <a:r>
                <a:rPr lang="en-IN" sz="900" b="1" dirty="0">
                  <a:latin typeface="+mn-lt"/>
                </a:rPr>
                <a:t>()</a:t>
              </a: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3826505" y="1713637"/>
              <a:ext cx="516896" cy="153263"/>
              <a:chOff x="6705600" y="2933700"/>
              <a:chExt cx="762000" cy="228600"/>
            </a:xfrm>
          </p:grpSpPr>
          <p:cxnSp>
            <p:nvCxnSpPr>
              <p:cNvPr id="41" name="Straight Connector 40"/>
              <p:cNvCxnSpPr/>
              <p:nvPr/>
            </p:nvCxnSpPr>
            <p:spPr>
              <a:xfrm>
                <a:off x="6705600" y="2933700"/>
                <a:ext cx="7620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7467600" y="2933700"/>
                <a:ext cx="0" cy="22860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 flipH="1">
                <a:off x="6705600" y="3162300"/>
                <a:ext cx="762000" cy="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/>
            <p:cNvSpPr txBox="1"/>
            <p:nvPr/>
          </p:nvSpPr>
          <p:spPr>
            <a:xfrm>
              <a:off x="4643456" y="2553144"/>
              <a:ext cx="94530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 smtClean="0">
                  <a:latin typeface="+mn-lt"/>
                </a:rPr>
                <a:t>3 : login</a:t>
              </a:r>
              <a:r>
                <a:rPr lang="en-IN" sz="900" b="1" dirty="0">
                  <a:latin typeface="+mn-lt"/>
                </a:rPr>
                <a:t>()</a:t>
              </a:r>
            </a:p>
          </p:txBody>
        </p:sp>
      </p:grpSp>
      <p:sp>
        <p:nvSpPr>
          <p:cNvPr id="67" name="Rectangle 66"/>
          <p:cNvSpPr/>
          <p:nvPr/>
        </p:nvSpPr>
        <p:spPr>
          <a:xfrm>
            <a:off x="186495" y="175293"/>
            <a:ext cx="2842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>Sequence  Diagram (Admin)</a:t>
            </a:r>
          </a:p>
        </p:txBody>
      </p:sp>
      <p:sp>
        <p:nvSpPr>
          <p:cNvPr id="2" name="Rectangle 1"/>
          <p:cNvSpPr/>
          <p:nvPr/>
        </p:nvSpPr>
        <p:spPr>
          <a:xfrm>
            <a:off x="8534400" y="5320028"/>
            <a:ext cx="3417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2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14</a:t>
            </a:r>
            <a:endParaRPr lang="en-US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60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1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68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4599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/>
          <p:cNvCxnSpPr>
            <a:stCxn id="74" idx="2"/>
          </p:cNvCxnSpPr>
          <p:nvPr/>
        </p:nvCxnSpPr>
        <p:spPr>
          <a:xfrm flipH="1">
            <a:off x="2202818" y="1320845"/>
            <a:ext cx="35257" cy="3636889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H="1">
            <a:off x="980756" y="4828841"/>
            <a:ext cx="6230791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25847" y="4003341"/>
            <a:ext cx="13374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 smtClean="0"/>
              <a:t>6 : </a:t>
            </a:r>
            <a:r>
              <a:rPr lang="en-IN" sz="900" b="1" dirty="0" err="1" smtClean="0"/>
              <a:t>ResultPageUI</a:t>
            </a:r>
            <a:r>
              <a:rPr lang="en-IN" sz="900" b="1" dirty="0"/>
              <a:t>()</a:t>
            </a:r>
          </a:p>
        </p:txBody>
      </p:sp>
      <p:cxnSp>
        <p:nvCxnSpPr>
          <p:cNvPr id="71" name="Straight Connector 70"/>
          <p:cNvCxnSpPr>
            <a:stCxn id="73" idx="2"/>
          </p:cNvCxnSpPr>
          <p:nvPr/>
        </p:nvCxnSpPr>
        <p:spPr>
          <a:xfrm flipH="1">
            <a:off x="7284015" y="1318951"/>
            <a:ext cx="3732" cy="363878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7211547" y="3812842"/>
            <a:ext cx="163842" cy="101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3" name="Rectangle 72"/>
          <p:cNvSpPr/>
          <p:nvPr/>
        </p:nvSpPr>
        <p:spPr>
          <a:xfrm>
            <a:off x="6868647" y="1140470"/>
            <a:ext cx="838200" cy="178481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ResultPage</a:t>
            </a:r>
            <a:endParaRPr lang="en-IN" sz="1000" dirty="0"/>
          </a:p>
        </p:txBody>
      </p:sp>
      <p:sp>
        <p:nvSpPr>
          <p:cNvPr id="74" name="Rectangle 73"/>
          <p:cNvSpPr/>
          <p:nvPr/>
        </p:nvSpPr>
        <p:spPr>
          <a:xfrm>
            <a:off x="1682675" y="1140472"/>
            <a:ext cx="1110800" cy="18037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LoginPage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5564" y="1142362"/>
            <a:ext cx="1224683" cy="178482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Training_Mode</a:t>
            </a:r>
            <a:endParaRPr lang="en-IN" sz="1000" dirty="0"/>
          </a:p>
        </p:txBody>
      </p:sp>
      <p:cxnSp>
        <p:nvCxnSpPr>
          <p:cNvPr id="76" name="Straight Connector 75"/>
          <p:cNvCxnSpPr>
            <a:stCxn id="75" idx="2"/>
          </p:cNvCxnSpPr>
          <p:nvPr/>
        </p:nvCxnSpPr>
        <p:spPr>
          <a:xfrm flipH="1">
            <a:off x="3815164" y="1320844"/>
            <a:ext cx="2742" cy="363689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3738965" y="2825734"/>
            <a:ext cx="140948" cy="13372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8" name="TextBox 77"/>
          <p:cNvSpPr txBox="1"/>
          <p:nvPr/>
        </p:nvSpPr>
        <p:spPr>
          <a:xfrm>
            <a:off x="685800" y="1336342"/>
            <a:ext cx="7016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u="sng" dirty="0"/>
              <a:t>Student</a:t>
            </a:r>
            <a:endParaRPr lang="en-IN" sz="1000" u="sng" dirty="0"/>
          </a:p>
        </p:txBody>
      </p:sp>
      <p:grpSp>
        <p:nvGrpSpPr>
          <p:cNvPr id="79" name="Group 78"/>
          <p:cNvGrpSpPr/>
          <p:nvPr/>
        </p:nvGrpSpPr>
        <p:grpSpPr>
          <a:xfrm>
            <a:off x="834065" y="952500"/>
            <a:ext cx="391175" cy="421948"/>
            <a:chOff x="329373" y="1205531"/>
            <a:chExt cx="457650" cy="559200"/>
          </a:xfrm>
        </p:grpSpPr>
        <p:sp>
          <p:nvSpPr>
            <p:cNvPr id="157" name="Oval 156"/>
            <p:cNvSpPr/>
            <p:nvPr/>
          </p:nvSpPr>
          <p:spPr>
            <a:xfrm>
              <a:off x="427441" y="1205531"/>
              <a:ext cx="261515" cy="22709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58" name="Straight Connector 157"/>
            <p:cNvCxnSpPr/>
            <p:nvPr/>
          </p:nvCxnSpPr>
          <p:spPr>
            <a:xfrm>
              <a:off x="566371" y="1432625"/>
              <a:ext cx="0" cy="24077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 flipV="1">
              <a:off x="435614" y="1665099"/>
              <a:ext cx="130757" cy="9963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 flipH="1" flipV="1">
              <a:off x="566371" y="1665099"/>
              <a:ext cx="130757" cy="9963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329373" y="1499046"/>
              <a:ext cx="45765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0" name="Straight Connector 79"/>
          <p:cNvCxnSpPr>
            <a:stCxn id="78" idx="2"/>
          </p:cNvCxnSpPr>
          <p:nvPr/>
        </p:nvCxnSpPr>
        <p:spPr>
          <a:xfrm flipH="1">
            <a:off x="980756" y="1582562"/>
            <a:ext cx="55882" cy="3375172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5001747" y="1142362"/>
            <a:ext cx="1143000" cy="178482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Exam_Mode</a:t>
            </a:r>
            <a:endParaRPr lang="en-IN" sz="1000" dirty="0"/>
          </a:p>
        </p:txBody>
      </p:sp>
      <p:cxnSp>
        <p:nvCxnSpPr>
          <p:cNvPr id="82" name="Straight Connector 81"/>
          <p:cNvCxnSpPr>
            <a:stCxn id="81" idx="2"/>
          </p:cNvCxnSpPr>
          <p:nvPr/>
        </p:nvCxnSpPr>
        <p:spPr>
          <a:xfrm>
            <a:off x="5573247" y="1320844"/>
            <a:ext cx="38100" cy="363689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5519793" y="2607977"/>
            <a:ext cx="159104" cy="12048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5" name="TextBox 84"/>
          <p:cNvSpPr txBox="1"/>
          <p:nvPr/>
        </p:nvSpPr>
        <p:spPr>
          <a:xfrm>
            <a:off x="3836811" y="2986904"/>
            <a:ext cx="1905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 smtClean="0"/>
              <a:t>3 : </a:t>
            </a:r>
            <a:r>
              <a:rPr lang="en-IN" sz="900" b="1" dirty="0" err="1" smtClean="0"/>
              <a:t>loadQuestionsFromDB</a:t>
            </a:r>
            <a:r>
              <a:rPr lang="en-IN" sz="900" b="1" dirty="0"/>
              <a:t>()</a:t>
            </a:r>
          </a:p>
        </p:txBody>
      </p:sp>
      <p:grpSp>
        <p:nvGrpSpPr>
          <p:cNvPr id="86" name="Group 85"/>
          <p:cNvGrpSpPr/>
          <p:nvPr/>
        </p:nvGrpSpPr>
        <p:grpSpPr>
          <a:xfrm>
            <a:off x="949456" y="1526842"/>
            <a:ext cx="3379451" cy="2933566"/>
            <a:chOff x="481609" y="1512747"/>
            <a:chExt cx="3379451" cy="3520279"/>
          </a:xfrm>
        </p:grpSpPr>
        <p:cxnSp>
          <p:nvCxnSpPr>
            <p:cNvPr id="137" name="Straight Arrow Connector 136"/>
            <p:cNvCxnSpPr/>
            <p:nvPr/>
          </p:nvCxnSpPr>
          <p:spPr>
            <a:xfrm>
              <a:off x="620582" y="1638300"/>
              <a:ext cx="1055818" cy="2232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8" name="Rectangle 137"/>
            <p:cNvSpPr/>
            <p:nvPr/>
          </p:nvSpPr>
          <p:spPr>
            <a:xfrm>
              <a:off x="1676400" y="1638299"/>
              <a:ext cx="152400" cy="339472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481609" y="1638300"/>
              <a:ext cx="160391" cy="43692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787857" y="1866901"/>
              <a:ext cx="207320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 smtClean="0"/>
                <a:t>2 : </a:t>
              </a:r>
              <a:r>
                <a:rPr lang="en-IN" sz="900" b="1" dirty="0" err="1" smtClean="0"/>
                <a:t>isValidCredentials</a:t>
              </a:r>
              <a:r>
                <a:rPr lang="en-IN" sz="900" b="1" dirty="0"/>
                <a:t>()</a:t>
              </a:r>
            </a:p>
          </p:txBody>
        </p:sp>
        <p:grpSp>
          <p:nvGrpSpPr>
            <p:cNvPr id="142" name="Group 141"/>
            <p:cNvGrpSpPr/>
            <p:nvPr/>
          </p:nvGrpSpPr>
          <p:grpSpPr>
            <a:xfrm>
              <a:off x="1845305" y="2094637"/>
              <a:ext cx="516896" cy="153263"/>
              <a:chOff x="6705600" y="2933700"/>
              <a:chExt cx="762000" cy="228600"/>
            </a:xfrm>
          </p:grpSpPr>
          <p:cxnSp>
            <p:nvCxnSpPr>
              <p:cNvPr id="154" name="Straight Connector 153"/>
              <p:cNvCxnSpPr/>
              <p:nvPr/>
            </p:nvCxnSpPr>
            <p:spPr>
              <a:xfrm>
                <a:off x="6705600" y="2933700"/>
                <a:ext cx="7620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/>
              <p:nvPr/>
            </p:nvCxnSpPr>
            <p:spPr>
              <a:xfrm>
                <a:off x="7467600" y="2933700"/>
                <a:ext cx="0" cy="22860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Arrow Connector 155"/>
              <p:cNvCxnSpPr/>
              <p:nvPr/>
            </p:nvCxnSpPr>
            <p:spPr>
              <a:xfrm flipH="1">
                <a:off x="6705600" y="3162300"/>
                <a:ext cx="762000" cy="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3" name="TextBox 142"/>
            <p:cNvSpPr txBox="1"/>
            <p:nvPr/>
          </p:nvSpPr>
          <p:spPr>
            <a:xfrm>
              <a:off x="1787857" y="1512747"/>
              <a:ext cx="1203747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 smtClean="0"/>
                <a:t>1 : </a:t>
              </a:r>
              <a:r>
                <a:rPr lang="en-IN" sz="900" b="1" dirty="0" err="1" smtClean="0"/>
                <a:t>LoginPageUI</a:t>
              </a:r>
              <a:r>
                <a:rPr lang="en-IN" sz="900" b="1" dirty="0"/>
                <a:t>()</a:t>
              </a:r>
            </a:p>
          </p:txBody>
        </p:sp>
        <p:grpSp>
          <p:nvGrpSpPr>
            <p:cNvPr id="146" name="Group 145"/>
            <p:cNvGrpSpPr/>
            <p:nvPr/>
          </p:nvGrpSpPr>
          <p:grpSpPr>
            <a:xfrm>
              <a:off x="1845305" y="1713637"/>
              <a:ext cx="516896" cy="153263"/>
              <a:chOff x="6705600" y="2933700"/>
              <a:chExt cx="762000" cy="228600"/>
            </a:xfrm>
          </p:grpSpPr>
          <p:cxnSp>
            <p:nvCxnSpPr>
              <p:cNvPr id="148" name="Straight Connector 147"/>
              <p:cNvCxnSpPr/>
              <p:nvPr/>
            </p:nvCxnSpPr>
            <p:spPr>
              <a:xfrm>
                <a:off x="6705600" y="2933700"/>
                <a:ext cx="7620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7467600" y="2933700"/>
                <a:ext cx="0" cy="22860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Arrow Connector 149"/>
              <p:cNvCxnSpPr/>
              <p:nvPr/>
            </p:nvCxnSpPr>
            <p:spPr>
              <a:xfrm flipH="1">
                <a:off x="6705600" y="3162300"/>
                <a:ext cx="762000" cy="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8" name="Group 87"/>
          <p:cNvGrpSpPr/>
          <p:nvPr/>
        </p:nvGrpSpPr>
        <p:grpSpPr>
          <a:xfrm>
            <a:off x="3870495" y="3177127"/>
            <a:ext cx="516896" cy="137575"/>
            <a:chOff x="6705600" y="2933700"/>
            <a:chExt cx="762000" cy="246240"/>
          </a:xfrm>
        </p:grpSpPr>
        <p:cxnSp>
          <p:nvCxnSpPr>
            <p:cNvPr id="131" name="Straight Connector 130"/>
            <p:cNvCxnSpPr/>
            <p:nvPr/>
          </p:nvCxnSpPr>
          <p:spPr>
            <a:xfrm>
              <a:off x="6705600" y="2933700"/>
              <a:ext cx="7620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>
              <a:off x="7467600" y="2933700"/>
              <a:ext cx="0" cy="22860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/>
            <p:nvPr/>
          </p:nvCxnSpPr>
          <p:spPr>
            <a:xfrm flipH="1">
              <a:off x="6705600" y="3179940"/>
              <a:ext cx="76200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/>
          <p:cNvGrpSpPr/>
          <p:nvPr/>
        </p:nvGrpSpPr>
        <p:grpSpPr>
          <a:xfrm>
            <a:off x="3872275" y="3618726"/>
            <a:ext cx="516896" cy="127719"/>
            <a:chOff x="6705600" y="2673668"/>
            <a:chExt cx="762000" cy="228600"/>
          </a:xfrm>
        </p:grpSpPr>
        <p:cxnSp>
          <p:nvCxnSpPr>
            <p:cNvPr id="125" name="Straight Connector 124"/>
            <p:cNvCxnSpPr/>
            <p:nvPr/>
          </p:nvCxnSpPr>
          <p:spPr>
            <a:xfrm>
              <a:off x="6705600" y="2673668"/>
              <a:ext cx="7620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>
              <a:off x="7467600" y="2673668"/>
              <a:ext cx="0" cy="22860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/>
            <p:cNvCxnSpPr/>
            <p:nvPr/>
          </p:nvCxnSpPr>
          <p:spPr>
            <a:xfrm flipH="1">
              <a:off x="6705600" y="2902268"/>
              <a:ext cx="76200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/>
          <p:cNvSpPr txBox="1"/>
          <p:nvPr/>
        </p:nvSpPr>
        <p:spPr>
          <a:xfrm>
            <a:off x="5663469" y="2705100"/>
            <a:ext cx="1905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 smtClean="0"/>
              <a:t>3 : </a:t>
            </a:r>
            <a:r>
              <a:rPr lang="en-IN" sz="900" b="1" dirty="0" err="1" smtClean="0"/>
              <a:t>loadQuestionsFromDB</a:t>
            </a:r>
            <a:r>
              <a:rPr lang="en-IN" sz="900" b="1" dirty="0"/>
              <a:t>()</a:t>
            </a:r>
          </a:p>
        </p:txBody>
      </p:sp>
      <p:grpSp>
        <p:nvGrpSpPr>
          <p:cNvPr id="98" name="Group 97"/>
          <p:cNvGrpSpPr/>
          <p:nvPr/>
        </p:nvGrpSpPr>
        <p:grpSpPr>
          <a:xfrm>
            <a:off x="5677117" y="2981722"/>
            <a:ext cx="516896" cy="127719"/>
            <a:chOff x="6705600" y="2933700"/>
            <a:chExt cx="762000" cy="228600"/>
          </a:xfrm>
        </p:grpSpPr>
        <p:cxnSp>
          <p:nvCxnSpPr>
            <p:cNvPr id="119" name="Straight Connector 118"/>
            <p:cNvCxnSpPr/>
            <p:nvPr/>
          </p:nvCxnSpPr>
          <p:spPr>
            <a:xfrm>
              <a:off x="6705600" y="2933700"/>
              <a:ext cx="7620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7467600" y="2933700"/>
              <a:ext cx="0" cy="22860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/>
            <p:nvPr/>
          </p:nvCxnSpPr>
          <p:spPr>
            <a:xfrm flipH="1">
              <a:off x="6705600" y="3162300"/>
              <a:ext cx="76200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/>
          <p:cNvGrpSpPr/>
          <p:nvPr/>
        </p:nvGrpSpPr>
        <p:grpSpPr>
          <a:xfrm>
            <a:off x="5678897" y="3292258"/>
            <a:ext cx="516896" cy="127719"/>
            <a:chOff x="6705600" y="2933700"/>
            <a:chExt cx="762000" cy="228600"/>
          </a:xfrm>
        </p:grpSpPr>
        <p:cxnSp>
          <p:nvCxnSpPr>
            <p:cNvPr id="116" name="Straight Connector 115"/>
            <p:cNvCxnSpPr/>
            <p:nvPr/>
          </p:nvCxnSpPr>
          <p:spPr>
            <a:xfrm>
              <a:off x="6705600" y="2933700"/>
              <a:ext cx="7620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>
              <a:off x="7467600" y="2933700"/>
              <a:ext cx="0" cy="22860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/>
            <p:nvPr/>
          </p:nvCxnSpPr>
          <p:spPr>
            <a:xfrm flipH="1">
              <a:off x="6705600" y="3162300"/>
              <a:ext cx="76200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/>
          <p:cNvGrpSpPr/>
          <p:nvPr/>
        </p:nvGrpSpPr>
        <p:grpSpPr>
          <a:xfrm>
            <a:off x="5678897" y="3615738"/>
            <a:ext cx="516896" cy="127719"/>
            <a:chOff x="6705600" y="2933700"/>
            <a:chExt cx="762000" cy="228600"/>
          </a:xfrm>
        </p:grpSpPr>
        <p:cxnSp>
          <p:nvCxnSpPr>
            <p:cNvPr id="113" name="Straight Connector 112"/>
            <p:cNvCxnSpPr/>
            <p:nvPr/>
          </p:nvCxnSpPr>
          <p:spPr>
            <a:xfrm>
              <a:off x="6705600" y="2933700"/>
              <a:ext cx="7620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7467600" y="2933700"/>
              <a:ext cx="0" cy="22860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/>
            <p:cNvCxnSpPr/>
            <p:nvPr/>
          </p:nvCxnSpPr>
          <p:spPr>
            <a:xfrm flipH="1">
              <a:off x="6705600" y="3162300"/>
              <a:ext cx="76200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TextBox 100"/>
          <p:cNvSpPr txBox="1"/>
          <p:nvPr/>
        </p:nvSpPr>
        <p:spPr>
          <a:xfrm>
            <a:off x="5663469" y="3106491"/>
            <a:ext cx="1905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 smtClean="0"/>
              <a:t>4 : </a:t>
            </a:r>
            <a:r>
              <a:rPr lang="en-IN" sz="900" b="1" dirty="0" err="1" smtClean="0"/>
              <a:t>displayQuestions</a:t>
            </a:r>
            <a:r>
              <a:rPr lang="en-IN" sz="900" b="1" dirty="0"/>
              <a:t>()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3469" y="3415977"/>
            <a:ext cx="1905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 smtClean="0"/>
              <a:t>5 : </a:t>
            </a:r>
            <a:r>
              <a:rPr lang="en-IN" sz="900" b="1" dirty="0" err="1" smtClean="0"/>
              <a:t>checkAns</a:t>
            </a:r>
            <a:r>
              <a:rPr lang="en-IN" sz="900" b="1" dirty="0"/>
              <a:t>()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93475" y="4623686"/>
            <a:ext cx="11247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 smtClean="0"/>
              <a:t>7 : </a:t>
            </a:r>
            <a:r>
              <a:rPr lang="en-IN" sz="900" b="1" dirty="0" err="1" smtClean="0"/>
              <a:t>closeButton</a:t>
            </a:r>
            <a:r>
              <a:rPr lang="en-IN" sz="900" b="1" dirty="0"/>
              <a:t>()</a:t>
            </a:r>
          </a:p>
        </p:txBody>
      </p:sp>
      <p:grpSp>
        <p:nvGrpSpPr>
          <p:cNvPr id="105" name="Group 104"/>
          <p:cNvGrpSpPr/>
          <p:nvPr/>
        </p:nvGrpSpPr>
        <p:grpSpPr>
          <a:xfrm>
            <a:off x="7375389" y="4257342"/>
            <a:ext cx="516896" cy="127719"/>
            <a:chOff x="6705600" y="2933700"/>
            <a:chExt cx="762000" cy="228600"/>
          </a:xfrm>
        </p:grpSpPr>
        <p:cxnSp>
          <p:nvCxnSpPr>
            <p:cNvPr id="110" name="Straight Connector 109"/>
            <p:cNvCxnSpPr/>
            <p:nvPr/>
          </p:nvCxnSpPr>
          <p:spPr>
            <a:xfrm>
              <a:off x="6705600" y="2933700"/>
              <a:ext cx="7620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7467600" y="2933700"/>
              <a:ext cx="0" cy="22860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/>
            <p:nvPr/>
          </p:nvCxnSpPr>
          <p:spPr>
            <a:xfrm flipH="1">
              <a:off x="6705600" y="3162300"/>
              <a:ext cx="76200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6" name="Straight Arrow Connector 105"/>
          <p:cNvCxnSpPr/>
          <p:nvPr/>
        </p:nvCxnSpPr>
        <p:spPr>
          <a:xfrm>
            <a:off x="2284961" y="2595446"/>
            <a:ext cx="3234832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3836811" y="2415617"/>
            <a:ext cx="1447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/>
              <a:t>login()</a:t>
            </a:r>
          </a:p>
        </p:txBody>
      </p:sp>
      <p:sp>
        <p:nvSpPr>
          <p:cNvPr id="2" name="Rectangle 1"/>
          <p:cNvSpPr/>
          <p:nvPr/>
        </p:nvSpPr>
        <p:spPr>
          <a:xfrm>
            <a:off x="335469" y="179705"/>
            <a:ext cx="30460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Sequence  Diagram (Student)</a:t>
            </a:r>
          </a:p>
        </p:txBody>
      </p:sp>
      <p:grpSp>
        <p:nvGrpSpPr>
          <p:cNvPr id="93" name="Group 92"/>
          <p:cNvGrpSpPr/>
          <p:nvPr/>
        </p:nvGrpSpPr>
        <p:grpSpPr>
          <a:xfrm>
            <a:off x="3886200" y="3848100"/>
            <a:ext cx="516896" cy="127719"/>
            <a:chOff x="6705600" y="2933700"/>
            <a:chExt cx="762000" cy="228600"/>
          </a:xfrm>
        </p:grpSpPr>
        <p:cxnSp>
          <p:nvCxnSpPr>
            <p:cNvPr id="94" name="Straight Connector 93"/>
            <p:cNvCxnSpPr/>
            <p:nvPr/>
          </p:nvCxnSpPr>
          <p:spPr>
            <a:xfrm>
              <a:off x="6705600" y="2933700"/>
              <a:ext cx="7620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>
              <a:off x="7467600" y="2933700"/>
              <a:ext cx="0" cy="22860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/>
            <p:nvPr/>
          </p:nvCxnSpPr>
          <p:spPr>
            <a:xfrm flipH="1">
              <a:off x="6705600" y="3162300"/>
              <a:ext cx="76200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TextBox 108"/>
          <p:cNvSpPr txBox="1"/>
          <p:nvPr/>
        </p:nvSpPr>
        <p:spPr>
          <a:xfrm>
            <a:off x="3886200" y="4000500"/>
            <a:ext cx="1905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 smtClean="0"/>
              <a:t>5 : </a:t>
            </a:r>
            <a:r>
              <a:rPr lang="en-IN" sz="900" b="1" dirty="0" err="1" smtClean="0"/>
              <a:t>checkAns</a:t>
            </a:r>
            <a:r>
              <a:rPr lang="en-IN" sz="900" b="1" dirty="0"/>
              <a:t>()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834924" y="3365976"/>
            <a:ext cx="1905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 smtClean="0"/>
              <a:t>4 : </a:t>
            </a:r>
            <a:r>
              <a:rPr lang="en-IN" sz="900" b="1" dirty="0" err="1" smtClean="0"/>
              <a:t>displayQuestions</a:t>
            </a:r>
            <a:r>
              <a:rPr lang="en-IN" sz="900" b="1" dirty="0"/>
              <a:t>()</a:t>
            </a:r>
          </a:p>
        </p:txBody>
      </p:sp>
      <p:sp>
        <p:nvSpPr>
          <p:cNvPr id="3" name="Rectangle 2"/>
          <p:cNvSpPr/>
          <p:nvPr/>
        </p:nvSpPr>
        <p:spPr>
          <a:xfrm>
            <a:off x="8485971" y="5323701"/>
            <a:ext cx="3545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200" dirty="0" smtClean="0">
                <a:solidFill>
                  <a:schemeClr val="bg1">
                    <a:lumMod val="50000"/>
                  </a:schemeClr>
                </a:solidFill>
              </a:rPr>
              <a:t>15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7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89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1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8616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584" y="145774"/>
            <a:ext cx="8229600" cy="381000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rgbClr val="C00000"/>
                </a:solidFill>
                <a:latin typeface="+mn-lt"/>
              </a:rPr>
              <a:t>Unit Test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6989234"/>
              </p:ext>
            </p:extLst>
          </p:nvPr>
        </p:nvGraphicFramePr>
        <p:xfrm>
          <a:off x="361784" y="831574"/>
          <a:ext cx="8534400" cy="441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Req_ID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Test_ID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Function/Method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Input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Login UI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UNT_01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50000"/>
                        </a:lnSpc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LoginPageUI()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Invoke the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application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Validated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Login page UI display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Login UI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UNT_01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LoginPageUI()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Invoke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application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Invalid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Error in invoking the application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  Login UI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UNT_01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LoginPageUI()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Invoke application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raised an exception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Error in invoking the application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133184" y="374374"/>
            <a:ext cx="8842375" cy="182563"/>
            <a:chOff x="0" y="0"/>
            <a:chExt cx="9289288" cy="261706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8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  <a:latin typeface="+mn-lt"/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81460" y="5295900"/>
            <a:ext cx="437984" cy="304271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n-lt"/>
              </a:rPr>
              <a:t>16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9023988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14300"/>
            <a:ext cx="8229600" cy="381000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rgbClr val="C00000"/>
                </a:solidFill>
              </a:rPr>
              <a:t>Unit Test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2969093"/>
              </p:ext>
            </p:extLst>
          </p:nvPr>
        </p:nvGraphicFramePr>
        <p:xfrm>
          <a:off x="381000" y="571500"/>
          <a:ext cx="8534400" cy="4648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Req_ID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Test_ID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Function/Method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Input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Admin/Student Login UI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UNT_02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isValidCredentials()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Correct username and password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Validated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Admin 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login with 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valid credentials (username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and password)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 Admin/Student Login UI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UNT_02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isValidCredentials()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Incorrect username and password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Invalid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Admin 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login with  in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valid credentials (username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and password)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4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 Admin/Student Login UI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UNT_02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isValidCredentials()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Incorrect username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and password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raised an exception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User does</a:t>
                      </a:r>
                      <a:r>
                        <a:rPr lang="en-IN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not exists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152400" y="342900"/>
            <a:ext cx="8842375" cy="182563"/>
            <a:chOff x="0" y="0"/>
            <a:chExt cx="9289288" cy="261706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8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7056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62144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14300"/>
            <a:ext cx="8229600" cy="381000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rgbClr val="C00000"/>
                </a:solidFill>
              </a:rPr>
              <a:t>Unit Test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0202005"/>
              </p:ext>
            </p:extLst>
          </p:nvPr>
        </p:nvGraphicFramePr>
        <p:xfrm>
          <a:off x="381000" y="952500"/>
          <a:ext cx="8534400" cy="426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Req_ID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Test_ID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Function/Method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Input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Admin/Student Login UI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UNT_02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isValidCredentials()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Correct username and password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Validated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Student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login with 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valid credentials (username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and password)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Admin/Student Login UI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UNT_02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isValidCredentials()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Incorrect username and password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Invalid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Student 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login with  in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valid credentials (username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and password)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4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Admin/Student Login UI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UNT_02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isValidCredentials()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Incorrect username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and password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raised an exception</a:t>
                      </a:r>
                    </a:p>
                  </a:txBody>
                  <a:tcPr marL="4957" marR="4957" marT="495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User does</a:t>
                      </a:r>
                      <a:r>
                        <a:rPr lang="en-IN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not exists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957" marR="4957" marT="4957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152400" y="342900"/>
            <a:ext cx="8842375" cy="182563"/>
            <a:chOff x="0" y="0"/>
            <a:chExt cx="9289288" cy="261706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8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38853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826157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14300"/>
            <a:ext cx="8229600" cy="381000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rgbClr val="C00000"/>
                </a:solidFill>
              </a:rPr>
              <a:t>Unit Test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386309"/>
              </p:ext>
            </p:extLst>
          </p:nvPr>
        </p:nvGraphicFramePr>
        <p:xfrm>
          <a:off x="304800" y="495301"/>
          <a:ext cx="8305800" cy="4648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51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456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311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3794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3569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43569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7556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4576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Req_ID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Test_ID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Function/Method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Input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0912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dirty="0">
                          <a:latin typeface="+mn-lt"/>
                        </a:rPr>
                        <a:t>Uploading excel file to DB 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Unit_03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Browse excel file()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Proper XLXS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Function Validated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Proper XLXS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dirty="0">
                          <a:latin typeface="+mn-lt"/>
                        </a:rPr>
                        <a:t>Uploading excel file to DB 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Unit_03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Browse excel file()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Improper XLXS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Function Invalided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Other than XLXS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dirty="0">
                          <a:latin typeface="+mn-lt"/>
                        </a:rPr>
                        <a:t>Uploading excel file to DB 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Unit_03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Browse excel file()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Function raised an 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Check Image Format and File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dirty="0">
                          <a:latin typeface="+mn-lt"/>
                        </a:rPr>
                        <a:t>Uploading excel file to DB 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Unit_04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ConnectToDB()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Proper DB 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Connected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DB connection successful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dirty="0">
                          <a:latin typeface="+mn-lt"/>
                        </a:rPr>
                        <a:t>Uploading excel file to DB 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Unit_04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ConnectToDB()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Empty File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Not Connected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DB connection is not successful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dirty="0">
                          <a:latin typeface="+mn-lt"/>
                        </a:rPr>
                        <a:t>Uploading excel file to DB 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Unit_04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ConnectToDB()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No Data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Function raised an 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Without DB, It will give Exception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508647" y="5312049"/>
            <a:ext cx="3545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19</a:t>
            </a:r>
            <a:endParaRPr lang="en-IN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152400" y="296915"/>
            <a:ext cx="8842375" cy="182563"/>
            <a:chOff x="0" y="0"/>
            <a:chExt cx="9289288" cy="261706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10" name="Right Triangle 9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4594575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14300"/>
            <a:ext cx="8229600" cy="495035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rgbClr val="C00000"/>
                </a:solidFill>
              </a:rPr>
              <a:t>Unit Test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3052267"/>
              </p:ext>
            </p:extLst>
          </p:nvPr>
        </p:nvGraphicFramePr>
        <p:xfrm>
          <a:off x="457200" y="682339"/>
          <a:ext cx="8305800" cy="45373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5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7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19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72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01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42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426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601287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Req_ID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Test_ID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Function/Method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Input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42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Validate XLXS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Unit_05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ValidateExcelFile()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Proper XLXS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Function Validated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Format should be Correct</a:t>
                      </a:r>
                      <a:endParaRPr lang="en-I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42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Validate XLXS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Unit_05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ValidateExcelFile()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Empty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Function Invalided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If there is not xlxs File</a:t>
                      </a:r>
                      <a:endParaRPr lang="en-I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0193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Validate XLXS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Unit_05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ValidateExcelFile()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Wrong File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Function raised an 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Improper Format of xlxs File</a:t>
                      </a:r>
                      <a:endParaRPr lang="en-I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42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Transferred to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Unit_06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transferToDatabase()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Proper XLXS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Transferred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Format should be Correct</a:t>
                      </a:r>
                      <a:endParaRPr lang="en-I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42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Transferred to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Unit_06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transferToDatabase()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Invalid file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Not Transferred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Wrong format of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3943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Transferred to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Unit_06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transferToDatabase()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Null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Function raised an 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Without having values in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152400" y="342900"/>
            <a:ext cx="8842375" cy="182563"/>
            <a:chOff x="0" y="0"/>
            <a:chExt cx="9289288" cy="261706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8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8565898" y="5312049"/>
            <a:ext cx="33534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 smtClean="0">
                <a:solidFill>
                  <a:schemeClr val="bg1">
                    <a:lumMod val="50000"/>
                  </a:schemeClr>
                </a:solidFill>
              </a:rPr>
              <a:t>20</a:t>
            </a:r>
            <a:endParaRPr lang="en-IN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866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8100"/>
            <a:ext cx="8229600" cy="609600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rgbClr val="C00000"/>
                </a:solidFill>
              </a:rPr>
              <a:t>Unit Test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799235"/>
              </p:ext>
            </p:extLst>
          </p:nvPr>
        </p:nvGraphicFramePr>
        <p:xfrm>
          <a:off x="304800" y="647700"/>
          <a:ext cx="8534400" cy="486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Req_ID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Test_ID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Function/Method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Input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Question Presentation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</a:t>
                      </a: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_07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loadQuestionsFromDB()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Questions exist in the data source 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Validated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Each question is fetched from</a:t>
                      </a:r>
                      <a:r>
                        <a:rPr lang="en-US" sz="1200" baseline="0" dirty="0">
                          <a:latin typeface="+mn-lt"/>
                          <a:cs typeface="Arial" pitchFamily="34" charset="0"/>
                        </a:rPr>
                        <a:t> DB and display in UI</a:t>
                      </a:r>
                      <a:endParaRPr 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Question Presentation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</a:t>
                      </a: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_07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loadQuestionsFromDB()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  <a:cs typeface="Arial" pitchFamily="34" charset="0"/>
                        </a:rPr>
                        <a:t>Empty list.</a:t>
                      </a:r>
                      <a:endParaRPr 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Invalided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"No questions available." message is displayed.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endParaRPr lang="en-US" sz="1200" dirty="0">
                        <a:latin typeface="+mn-lt"/>
                        <a:cs typeface="Arial" pitchFamily="34" charset="0"/>
                      </a:endParaRPr>
                    </a:p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Question Presentation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</a:t>
                      </a: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_07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loadQuestionsFromDB()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Question text with excessive characters.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raised an exception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+mn-lt"/>
                          <a:cs typeface="Arial" pitchFamily="34" charset="0"/>
                        </a:rPr>
                        <a:t>GUI rendering issues.</a:t>
                      </a:r>
                      <a:endParaRPr 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Question Presentation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</a:t>
                      </a: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_08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displayQuestions()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Questions exist in the data source 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Validated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First question is displayed with options.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Question Presentation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</a:t>
                      </a: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_08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displayQuestions()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  <a:cs typeface="Arial" pitchFamily="34" charset="0"/>
                        </a:rPr>
                        <a:t>Empty list.</a:t>
                      </a:r>
                      <a:endParaRPr 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Invalided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"No questions found." message is displayed.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 lang="en-US" sz="1200" dirty="0">
                        <a:latin typeface="+mn-lt"/>
                        <a:cs typeface="Arial" pitchFamily="34" charset="0"/>
                      </a:endParaRPr>
                    </a:p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Question Presentation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</a:t>
                      </a: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_08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displayQuestions()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Question text with excessive characters.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raised an exception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+mn-lt"/>
                          <a:cs typeface="Arial" pitchFamily="34" charset="0"/>
                        </a:rPr>
                        <a:t>GUI rendering issues.</a:t>
                      </a:r>
                      <a:endParaRPr 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152400" y="419100"/>
            <a:ext cx="8842375" cy="182563"/>
            <a:chOff x="0" y="0"/>
            <a:chExt cx="9289288" cy="261706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8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42166" y="5403109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66830188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14300"/>
            <a:ext cx="8229600" cy="381000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rgbClr val="C00000"/>
                </a:solidFill>
              </a:rPr>
              <a:t>Unit Test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1547510"/>
              </p:ext>
            </p:extLst>
          </p:nvPr>
        </p:nvGraphicFramePr>
        <p:xfrm>
          <a:off x="228600" y="800100"/>
          <a:ext cx="8610601" cy="426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989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536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524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9749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9799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87187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49876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Req_ID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Test_ID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Function/Method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Input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6501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Answer Selection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</a:t>
                      </a: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 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checkAns()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Multiple</a:t>
                      </a:r>
                      <a:r>
                        <a:rPr lang="en-IN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 choice questions 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Validated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Answer is correctly stored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Answer Selection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</a:t>
                      </a: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 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checkAns()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No Options are given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Invalided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Displaying  error 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6477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Answer Selection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UNT</a:t>
                      </a: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 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checkAns()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Multiple choice questions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raised an 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Two concurrent requests attempt to update the same answer at the same time. 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3869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Navigation Control 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Unit_10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previousButton()</a:t>
                      </a:r>
                      <a:b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</a:br>
                      <a:endParaRPr lang="en-IN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Click on Previous buttons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Validated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The UI displays the previous page</a:t>
                      </a:r>
                      <a:endParaRPr lang="en-I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Navigation Control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Unit_10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previousButton()</a:t>
                      </a:r>
                      <a:b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</a:br>
                      <a:endParaRPr lang="en-IN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Buttons are not 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Invalided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The UI cannot displays previous </a:t>
                      </a: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page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 </a:t>
                      </a:r>
                      <a:endParaRPr lang="en-I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423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Navigation Control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Unit_10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previousButton()</a:t>
                      </a:r>
                      <a:b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</a:br>
                      <a:endParaRPr lang="en-IN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Click on Previous buttons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raised an 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Displaying error 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152400" y="465137"/>
            <a:ext cx="8842375" cy="182563"/>
            <a:chOff x="0" y="0"/>
            <a:chExt cx="9289288" cy="261706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8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7818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647378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14300"/>
            <a:ext cx="8229600" cy="495035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rgbClr val="C00000"/>
                </a:solidFill>
              </a:rPr>
              <a:t>Unit Test Case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7694962"/>
              </p:ext>
            </p:extLst>
          </p:nvPr>
        </p:nvGraphicFramePr>
        <p:xfrm>
          <a:off x="381000" y="723900"/>
          <a:ext cx="8382000" cy="46482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666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899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7077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7449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3038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46108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56159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Req_ID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Test_ID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Function/Method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Input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4330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Navigation Control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Unit_10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nextButton()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Click on next buttons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Validated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The UI displays the next page</a:t>
                      </a:r>
                      <a:endParaRPr lang="en-I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8622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Navigation Control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Unit_10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nextButton()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Buttons are not 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Invalided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The UI cannot displays the next</a:t>
                      </a:r>
                      <a:r>
                        <a:rPr lang="en-US" sz="12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page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 </a:t>
                      </a:r>
                      <a:endParaRPr lang="en-I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159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Navigation Control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Unit_10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nextButton()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Click on next buttons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raised an 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Displaying error 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159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Feedback Display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Unit_11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ResultPageUI()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Click on submit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Validated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Display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8622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Feedback Display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Unit_11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ResultPageUI()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Click on submit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Invalided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Display invalid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767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Arial" pitchFamily="34" charset="0"/>
                        </a:rPr>
                        <a:t>Feedback Display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Unit_11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ResultPageUI()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Click on submit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Function raised an 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Displaying error 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152400" y="465137"/>
            <a:ext cx="8842375" cy="182563"/>
            <a:chOff x="0" y="0"/>
            <a:chExt cx="9289288" cy="261706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8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705600" y="53721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972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67057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24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13611" y="54166"/>
            <a:ext cx="3209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377BCD"/>
                </a:solidFill>
                <a:latin typeface="+mj-lt"/>
                <a:ea typeface="+mj-ea"/>
                <a:cs typeface="+mj-cs"/>
              </a:rPr>
              <a:t>Functional test cases</a:t>
            </a:r>
            <a:endParaRPr lang="en-IN" sz="2800" dirty="0">
              <a:solidFill>
                <a:srgbClr val="377BCD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xmlns="" id="{69CAD33F-01DF-23DE-1D02-080BBBE75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713650"/>
              </p:ext>
            </p:extLst>
          </p:nvPr>
        </p:nvGraphicFramePr>
        <p:xfrm>
          <a:off x="1321320" y="1181100"/>
          <a:ext cx="6832080" cy="3429000"/>
        </p:xfrm>
        <a:graphic>
          <a:graphicData uri="http://schemas.openxmlformats.org/drawingml/2006/table">
            <a:tbl>
              <a:tblPr/>
              <a:tblGrid>
                <a:gridCol w="612972">
                  <a:extLst>
                    <a:ext uri="{9D8B030D-6E8A-4147-A177-3AD203B41FA5}">
                      <a16:colId xmlns:a16="http://schemas.microsoft.com/office/drawing/2014/main" xmlns="" val="1037074482"/>
                    </a:ext>
                  </a:extLst>
                </a:gridCol>
                <a:gridCol w="890724">
                  <a:extLst>
                    <a:ext uri="{9D8B030D-6E8A-4147-A177-3AD203B41FA5}">
                      <a16:colId xmlns:a16="http://schemas.microsoft.com/office/drawing/2014/main" xmlns="" val="257760936"/>
                    </a:ext>
                  </a:extLst>
                </a:gridCol>
                <a:gridCol w="612972">
                  <a:extLst>
                    <a:ext uri="{9D8B030D-6E8A-4147-A177-3AD203B41FA5}">
                      <a16:colId xmlns:a16="http://schemas.microsoft.com/office/drawing/2014/main" xmlns="" val="2297868645"/>
                    </a:ext>
                  </a:extLst>
                </a:gridCol>
                <a:gridCol w="2557241">
                  <a:extLst>
                    <a:ext uri="{9D8B030D-6E8A-4147-A177-3AD203B41FA5}">
                      <a16:colId xmlns:a16="http://schemas.microsoft.com/office/drawing/2014/main" xmlns="" val="2403409461"/>
                    </a:ext>
                  </a:extLst>
                </a:gridCol>
                <a:gridCol w="1277024">
                  <a:extLst>
                    <a:ext uri="{9D8B030D-6E8A-4147-A177-3AD203B41FA5}">
                      <a16:colId xmlns:a16="http://schemas.microsoft.com/office/drawing/2014/main" xmlns="" val="3232374651"/>
                    </a:ext>
                  </a:extLst>
                </a:gridCol>
                <a:gridCol w="881147">
                  <a:extLst>
                    <a:ext uri="{9D8B030D-6E8A-4147-A177-3AD203B41FA5}">
                      <a16:colId xmlns:a16="http://schemas.microsoft.com/office/drawing/2014/main" xmlns="" val="1226740985"/>
                    </a:ext>
                  </a:extLst>
                </a:gridCol>
              </a:tblGrid>
              <a:tr h="44238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 Objective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 verify admin login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93183995"/>
                  </a:ext>
                </a:extLst>
              </a:tr>
              <a:tr h="33424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Requirements Addressed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0" b="1" dirty="0"/>
                        <a:t>Login UI </a:t>
                      </a:r>
                      <a:endParaRPr lang="en-IN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17055156"/>
                  </a:ext>
                </a:extLst>
              </a:tr>
              <a:tr h="33424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Qualification 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Demonstration &amp; Black Box testing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641705"/>
                  </a:ext>
                </a:extLst>
              </a:tr>
              <a:tr h="511204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Precondition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Application</a:t>
                      </a:r>
                      <a:r>
                        <a:rPr lang="en-US" sz="1000" baseline="0" dirty="0">
                          <a:solidFill>
                            <a:schemeClr val="tx1"/>
                          </a:solidFill>
                        </a:rPr>
                        <a:t> Software shall be </a:t>
                      </a:r>
                      <a:r>
                        <a:rPr lang="en-US" sz="1000" b="1" baseline="0" dirty="0">
                          <a:solidFill>
                            <a:schemeClr val="tx1"/>
                          </a:solidFill>
                        </a:rPr>
                        <a:t>made Available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56280576"/>
                  </a:ext>
                </a:extLst>
              </a:tr>
              <a:tr h="265433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 Input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Login with valid credentials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525076"/>
                  </a:ext>
                </a:extLst>
              </a:tr>
              <a:tr h="196617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 CASE 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54255937"/>
                  </a:ext>
                </a:extLst>
              </a:tr>
              <a:tr h="29295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S. No.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 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 Procedure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Expected Result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Actual Result (Pass / Fail)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03256316"/>
                  </a:ext>
                </a:extLst>
              </a:tr>
              <a:tr h="105190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FQT_01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lvl="1" indent="-228600" algn="l" defTabSz="914400" rtl="0" eaLnBrk="1" fontAlgn="ctr" latinLnBrk="0" hangingPunct="1">
                        <a:buFont typeface="+mj-lt"/>
                        <a:buAutoNum type="arabicPeriod"/>
                      </a:pPr>
                      <a:r>
                        <a:rPr lang="en-US" sz="10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login page is displayed.</a:t>
                      </a:r>
                    </a:p>
                    <a:p>
                      <a:pPr marL="228600" lvl="1" indent="-228600" algn="l" defTabSz="914400" rtl="0" eaLnBrk="1" fontAlgn="ctr" latinLnBrk="0" hangingPunct="1">
                        <a:buFont typeface="+mj-lt"/>
                        <a:buAutoNum type="arabicPeriod"/>
                      </a:pPr>
                      <a:r>
                        <a:rPr lang="en-US" sz="10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Enter the valid username and password.</a:t>
                      </a:r>
                    </a:p>
                    <a:p>
                      <a:pPr marL="228600" lvl="1" indent="-228600" algn="l" defTabSz="914400" rtl="0" eaLnBrk="1" fontAlgn="ctr" latinLnBrk="0" hangingPunct="1">
                        <a:buFont typeface="+mj-lt"/>
                        <a:buAutoNum type="arabicPeriod"/>
                      </a:pPr>
                      <a:r>
                        <a:rPr lang="en-US" sz="10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Click on admin and then login</a:t>
                      </a:r>
                    </a:p>
                    <a:p>
                      <a:pPr marL="228600" lvl="1" indent="-228600" algn="l" defTabSz="914400" rtl="0" eaLnBrk="1" fontAlgn="ctr" latinLnBrk="0" hangingPunct="1">
                        <a:buFont typeface="+mj-lt"/>
                        <a:buAutoNum type="arabicPeriod"/>
                      </a:pPr>
                      <a:r>
                        <a:rPr lang="en-US" sz="10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Admin UI will be displayed</a:t>
                      </a:r>
                    </a:p>
                  </a:txBody>
                  <a:tcPr marL="0" marR="61200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Admin user</a:t>
                      </a:r>
                      <a:r>
                        <a:rPr lang="en-IN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interface</a:t>
                      </a:r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will displayed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81986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9353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67057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25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13611" y="54166"/>
            <a:ext cx="3209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377BCD"/>
                </a:solidFill>
                <a:latin typeface="+mj-lt"/>
                <a:ea typeface="+mj-ea"/>
                <a:cs typeface="+mj-cs"/>
              </a:rPr>
              <a:t>Functional test cases</a:t>
            </a:r>
            <a:endParaRPr lang="en-IN" sz="2800" dirty="0">
              <a:solidFill>
                <a:srgbClr val="377BCD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xmlns="" id="{69CAD33F-01DF-23DE-1D02-080BBBE75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234738"/>
              </p:ext>
            </p:extLst>
          </p:nvPr>
        </p:nvGraphicFramePr>
        <p:xfrm>
          <a:off x="990600" y="952500"/>
          <a:ext cx="6978650" cy="4191000"/>
        </p:xfrm>
        <a:graphic>
          <a:graphicData uri="http://schemas.openxmlformats.org/drawingml/2006/table">
            <a:tbl>
              <a:tblPr/>
              <a:tblGrid>
                <a:gridCol w="793750">
                  <a:extLst>
                    <a:ext uri="{9D8B030D-6E8A-4147-A177-3AD203B41FA5}">
                      <a16:colId xmlns:a16="http://schemas.microsoft.com/office/drawing/2014/main" xmlns="" val="103707448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xmlns="" val="2577609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297868645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xmlns="" val="2403409461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xmlns="" val="323237465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xmlns="" val="1226740985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 Objective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 verify Student login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93183995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Requirements Addressed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0" b="1" dirty="0"/>
                        <a:t>Admin login /Student login </a:t>
                      </a:r>
                      <a:endParaRPr lang="en-IN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17055156"/>
                  </a:ext>
                </a:extLst>
              </a:tr>
              <a:tr h="32385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Qualification 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Demonstration &amp; Black Box testing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641705"/>
                  </a:ext>
                </a:extLst>
              </a:tr>
              <a:tr h="36195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Precondition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The application or system with the project necessary Software installed and accessible.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56280576"/>
                  </a:ext>
                </a:extLst>
              </a:tr>
              <a:tr h="25717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 Input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Login with valid credentials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525076"/>
                  </a:ext>
                </a:extLst>
              </a:tr>
              <a:tr h="7620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 CASE 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54255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S. No.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 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 Procedure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Expected Result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Actual Result (Pass / Fail)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03256316"/>
                  </a:ext>
                </a:extLst>
              </a:tr>
              <a:tr h="2192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FQT_02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ctr" latinLnBrk="0" hangingPunct="1">
                        <a:buFont typeface="+mj-lt"/>
                        <a:buNone/>
                      </a:pPr>
                      <a:r>
                        <a:rPr lang="en-US" sz="10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User login page is displayed.</a:t>
                      </a:r>
                    </a:p>
                    <a:p>
                      <a:pPr marL="0" lvl="1" indent="0" algn="l" defTabSz="914400" rtl="0" eaLnBrk="1" fontAlgn="ctr" latinLnBrk="0" hangingPunct="1">
                        <a:buFont typeface="+mj-lt"/>
                        <a:buNone/>
                      </a:pPr>
                      <a:r>
                        <a:rPr lang="en-US" sz="10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Enter the valid username and password.</a:t>
                      </a:r>
                    </a:p>
                    <a:p>
                      <a:pPr marL="0" lvl="1" indent="0" algn="l" defTabSz="914400" rtl="0" eaLnBrk="1" fontAlgn="ctr" latinLnBrk="0" hangingPunct="1">
                        <a:buFont typeface="+mj-lt"/>
                        <a:buNone/>
                      </a:pPr>
                      <a:r>
                        <a:rPr lang="en-US" sz="10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Admin UI will be displayed</a:t>
                      </a:r>
                    </a:p>
                    <a:p>
                      <a:pPr algn="l" fontAlgn="ctr"/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question excel files</a:t>
                      </a:r>
                    </a:p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4.</a:t>
                      </a:r>
                      <a:r>
                        <a:rPr lang="en-US" sz="1000" b="1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Click on the browse button</a:t>
                      </a:r>
                    </a:p>
                    <a:p>
                      <a:pPr marL="0" indent="0" algn="l" fontAlgn="ctr">
                        <a:buNone/>
                      </a:pPr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 Select the valid xlsx file from file directory</a:t>
                      </a:r>
                    </a:p>
                    <a:p>
                      <a:pPr marL="0" indent="0" algn="l" fontAlgn="ctr">
                        <a:buNone/>
                      </a:pPr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 Click on check for db button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7. Click on validate xlsx</a:t>
                      </a:r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file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8. Click on transfer data to db button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 Enter student credentials and click on login button.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If</a:t>
                      </a:r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training mode is selected ,users can practice the questions and in exam mode user can take assessment</a:t>
                      </a:r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81986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25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67057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26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13611" y="54166"/>
            <a:ext cx="3209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377BCD"/>
                </a:solidFill>
                <a:latin typeface="+mj-lt"/>
                <a:ea typeface="+mj-ea"/>
                <a:cs typeface="+mj-cs"/>
              </a:rPr>
              <a:t>Functional test cases</a:t>
            </a:r>
            <a:endParaRPr lang="en-IN" sz="2800" dirty="0">
              <a:solidFill>
                <a:srgbClr val="377BCD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xmlns="" id="{69CAD33F-01DF-23DE-1D02-080BBBE75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904824"/>
              </p:ext>
            </p:extLst>
          </p:nvPr>
        </p:nvGraphicFramePr>
        <p:xfrm>
          <a:off x="914400" y="1181100"/>
          <a:ext cx="6946900" cy="376428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103707448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xmlns="" val="2577609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297868645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xmlns="" val="2403409461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xmlns="" val="323237465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xmlns="" val="1226740985"/>
                    </a:ext>
                  </a:extLst>
                </a:gridCol>
              </a:tblGrid>
              <a:tr h="42862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Objective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verify the function</a:t>
                      </a:r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of check for db button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93183995"/>
                  </a:ext>
                </a:extLst>
              </a:tr>
              <a:tr h="32385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Requirements Addressed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Uploading excel file to DB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17055156"/>
                  </a:ext>
                </a:extLst>
              </a:tr>
              <a:tr h="32385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Qualification 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Demonstration &amp; Black Box testing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641705"/>
                  </a:ext>
                </a:extLst>
              </a:tr>
              <a:tr h="4953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Precondition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</a:rPr>
                        <a:t>Application</a:t>
                      </a:r>
                      <a:r>
                        <a:rPr lang="en-US" sz="1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 Software shall be </a:t>
                      </a: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made Available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56280576"/>
                  </a:ext>
                </a:extLst>
              </a:tr>
              <a:tr h="25717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Input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Input excel file and select</a:t>
                      </a:r>
                      <a:r>
                        <a:rPr lang="en-IN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check for db button</a:t>
                      </a:r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to check database connectivity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525076"/>
                  </a:ext>
                </a:extLst>
              </a:tr>
              <a:tr h="19050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CASE 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54255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S. No.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Procedure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Expected Result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Actual Result (Pass / Fail)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03256316"/>
                  </a:ext>
                </a:extLst>
              </a:tr>
              <a:tr h="1430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FQT_03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ctr" latinLnBrk="0" hangingPunct="1">
                        <a:buFont typeface="+mj-lt"/>
                        <a:buNone/>
                      </a:pPr>
                      <a:r>
                        <a:rPr lang="en-US" sz="10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User login page is displayed.</a:t>
                      </a:r>
                    </a:p>
                    <a:p>
                      <a:pPr marL="0" lvl="1" indent="0" algn="l" defTabSz="914400" rtl="0" eaLnBrk="1" fontAlgn="ctr" latinLnBrk="0" hangingPunct="1">
                        <a:buFont typeface="+mj-lt"/>
                        <a:buNone/>
                      </a:pPr>
                      <a:r>
                        <a:rPr lang="en-US" sz="10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Enter the valid username and password.</a:t>
                      </a:r>
                    </a:p>
                    <a:p>
                      <a:pPr marL="0" lvl="1" indent="0" algn="l" defTabSz="914400" rtl="0" eaLnBrk="1" fontAlgn="ctr" latinLnBrk="0" hangingPunct="1">
                        <a:buFont typeface="+mj-lt"/>
                        <a:buNone/>
                      </a:pPr>
                      <a:r>
                        <a:rPr lang="en-US" sz="10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Admin UI will be displayed</a:t>
                      </a:r>
                    </a:p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question excel files</a:t>
                      </a:r>
                    </a:p>
                    <a:p>
                      <a:pPr algn="l" fontAlgn="ctr"/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 Click on the browse button</a:t>
                      </a:r>
                    </a:p>
                    <a:p>
                      <a:pPr marL="0" indent="0" algn="l" fontAlgn="ctr">
                        <a:buNone/>
                      </a:pPr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5. Select the valid xlsx file from file directory</a:t>
                      </a:r>
                    </a:p>
                    <a:p>
                      <a:pPr marL="0" indent="0" algn="l" fontAlgn="ctr">
                        <a:buNone/>
                      </a:pPr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6. Click on check for db button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3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j-lt"/>
                        </a:rPr>
                        <a:t>Returns right</a:t>
                      </a: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 mark if there is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j-lt"/>
                        </a:rPr>
                        <a:t>successful database connection else cross mark appears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</a:rPr>
                        <a:t>.</a:t>
                      </a:r>
                    </a:p>
                    <a:p>
                      <a:pPr marL="0" marR="0" indent="0" algn="ctr" defTabSz="9143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 fontAlgn="ctr"/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81986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141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67057" y="5372629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27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13611" y="54166"/>
            <a:ext cx="3209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377BCD"/>
                </a:solidFill>
                <a:latin typeface="+mj-lt"/>
                <a:ea typeface="+mj-ea"/>
                <a:cs typeface="+mj-cs"/>
              </a:rPr>
              <a:t>Functional test cases</a:t>
            </a:r>
            <a:endParaRPr lang="en-IN" sz="2800" dirty="0">
              <a:solidFill>
                <a:srgbClr val="377BCD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35285"/>
              </p:ext>
            </p:extLst>
          </p:nvPr>
        </p:nvGraphicFramePr>
        <p:xfrm>
          <a:off x="457200" y="952500"/>
          <a:ext cx="8305799" cy="3352800"/>
        </p:xfrm>
        <a:graphic>
          <a:graphicData uri="http://schemas.openxmlformats.org/drawingml/2006/table">
            <a:tbl>
              <a:tblPr/>
              <a:tblGrid>
                <a:gridCol w="7994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312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753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8251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70544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4772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3528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Objective 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</a:t>
                      </a:r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test the objective of </a:t>
                      </a:r>
                      <a:r>
                        <a:rPr lang="en-US" sz="1000" b="1" dirty="0">
                          <a:latin typeface="+mj-lt"/>
                        </a:rPr>
                        <a:t>Question Presentation </a:t>
                      </a:r>
                      <a:endParaRPr lang="en-US" sz="1000" b="1" dirty="0">
                        <a:latin typeface="+mj-lt"/>
                        <a:cs typeface="Arial" pitchFamily="34" charset="0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39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Requirements Addressed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0" b="1" dirty="0">
                          <a:latin typeface="+mj-lt"/>
                        </a:rPr>
                        <a:t>Question Presentation </a:t>
                      </a:r>
                      <a:endParaRPr lang="en-IN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39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Qualification Method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</a:rPr>
                        <a:t>Black box testing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739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Precondition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</a:rPr>
                        <a:t>Application</a:t>
                      </a:r>
                      <a:r>
                        <a:rPr lang="en-US" sz="1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 Software shall be </a:t>
                      </a: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made Available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289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Input 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</a:rPr>
                        <a:t>EXCEL</a:t>
                      </a:r>
                      <a:r>
                        <a:rPr lang="en-US" sz="1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 Sheet file</a:t>
                      </a:r>
                      <a:endParaRPr lang="en-US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7390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CASE DESCRIPTION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4154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Sl no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Id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Procedure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Expected Result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Actual Result (Pass / Fail)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87488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4</a:t>
                      </a: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FQT_04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Enter stude</a:t>
                      </a:r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nt </a:t>
                      </a: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credentials and click on login button.</a:t>
                      </a:r>
                      <a:endParaRPr lang="en-US" sz="1000" b="1" i="0" u="none" strike="noStrike" baseline="0" dirty="0"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  <a:p>
                      <a:pPr marL="228600" marR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Student User Interface will Display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  <a:p>
                      <a:pPr marL="228600" marR="0" indent="-228600" algn="l" defTabSz="9143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Display the first question in UI.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First question with options will be displayed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998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67057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28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13611" y="54166"/>
            <a:ext cx="3209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377BCD"/>
                </a:solidFill>
                <a:latin typeface="+mj-lt"/>
                <a:ea typeface="+mj-ea"/>
                <a:cs typeface="+mj-cs"/>
              </a:rPr>
              <a:t>Functional test cases</a:t>
            </a:r>
            <a:endParaRPr lang="en-IN" sz="2800" dirty="0">
              <a:solidFill>
                <a:srgbClr val="377BCD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108613"/>
              </p:ext>
            </p:extLst>
          </p:nvPr>
        </p:nvGraphicFramePr>
        <p:xfrm>
          <a:off x="533985" y="1333500"/>
          <a:ext cx="8125915" cy="3048000"/>
        </p:xfrm>
        <a:graphic>
          <a:graphicData uri="http://schemas.openxmlformats.org/drawingml/2006/table">
            <a:tbl>
              <a:tblPr/>
              <a:tblGrid>
                <a:gridCol w="78214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8139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39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9795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19389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2503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5123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 Objective 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en-US" sz="105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test the objective of </a:t>
                      </a:r>
                      <a:r>
                        <a:rPr lang="en-US" sz="1050" b="1" dirty="0"/>
                        <a:t>Navigation Control </a:t>
                      </a:r>
                      <a:endParaRPr lang="en-US" sz="105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123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Requirements Addressed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50" b="1" dirty="0"/>
                        <a:t>Navigation Control </a:t>
                      </a:r>
                      <a:endParaRPr lang="en-IN" sz="105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5123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Qualification Method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Black box testing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123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Precondition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Application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</a:rPr>
                        <a:t> Software shall be </a:t>
                      </a:r>
                      <a:r>
                        <a:rPr lang="en-US" sz="1050" b="1" baseline="0" dirty="0">
                          <a:solidFill>
                            <a:schemeClr val="tx1"/>
                          </a:solidFill>
                        </a:rPr>
                        <a:t>made Available</a:t>
                      </a:r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5123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 Input 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EXCEL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</a:rPr>
                        <a:t> Sheet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file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51232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IN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 CASE DESCRIPTION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97270"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Sl no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Id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Procedure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Expected Result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Actual Result (Pass / Fail)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2800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FQT_06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rtl="0" eaLnBrk="1" fontAlgn="ctr" latinLnBrk="0" hangingPunct="1">
                        <a:buFont typeface="+mj-lt"/>
                        <a:buAutoNum type="arabicPeriod"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Enter student credentials and click on login button.</a:t>
                      </a:r>
                      <a:b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Student User Interface will Display</a:t>
                      </a:r>
                    </a:p>
                    <a:p>
                      <a:pPr marL="228600" marR="0" indent="-228600" algn="l" defTabSz="9143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Display the first question in UI.</a:t>
                      </a:r>
                    </a:p>
                    <a:p>
                      <a:pPr marL="228600" marR="0" indent="-228600" algn="l" defTabSz="9143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The user  is allowed to select one answer from four options</a:t>
                      </a:r>
                    </a:p>
                    <a:p>
                      <a:pPr marL="228600" marR="0" indent="-228600" algn="l" defTabSz="9143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After choosing the option the user can navigate to next or previous questions</a:t>
                      </a:r>
                    </a:p>
                    <a:p>
                      <a:pPr marL="228600" marR="0" indent="-228600" algn="l" defTabSz="9143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Click on action buttons to navigate first and last question.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User can navigate to next or previous buttons.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Left action button navigates to first question and right action button navigates to last question</a:t>
                      </a:r>
                      <a:endParaRPr lang="en-US" sz="105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186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67057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29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13611" y="54166"/>
            <a:ext cx="3209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377BCD"/>
                </a:solidFill>
                <a:latin typeface="+mj-lt"/>
                <a:ea typeface="+mj-ea"/>
                <a:cs typeface="+mj-cs"/>
              </a:rPr>
              <a:t>Functional test cases</a:t>
            </a:r>
            <a:endParaRPr lang="en-IN" sz="2800" dirty="0">
              <a:solidFill>
                <a:srgbClr val="377BCD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193285"/>
              </p:ext>
            </p:extLst>
          </p:nvPr>
        </p:nvGraphicFramePr>
        <p:xfrm>
          <a:off x="832369" y="876300"/>
          <a:ext cx="7772401" cy="4114796"/>
        </p:xfrm>
        <a:graphic>
          <a:graphicData uri="http://schemas.openxmlformats.org/drawingml/2006/table">
            <a:tbl>
              <a:tblPr/>
              <a:tblGrid>
                <a:gridCol w="7481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87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677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499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09845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804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6739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Objective 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</a:t>
                      </a:r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test the objective of </a:t>
                      </a:r>
                      <a:r>
                        <a:rPr lang="en-US" sz="1000" b="1" dirty="0">
                          <a:latin typeface="+mj-lt"/>
                        </a:rPr>
                        <a:t>Feedback Display</a:t>
                      </a:r>
                      <a:endParaRPr lang="en-US" sz="1000" b="1" dirty="0">
                        <a:latin typeface="+mj-lt"/>
                        <a:cs typeface="Arial" pitchFamily="34" charset="0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795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Requirements Addressed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0" b="1" dirty="0">
                          <a:latin typeface="+mj-lt"/>
                        </a:rPr>
                        <a:t>Feedback Display</a:t>
                      </a:r>
                      <a:endParaRPr lang="en-IN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739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Qualification Method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</a:rPr>
                        <a:t>Black box testing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6739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Precondition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</a:rPr>
                        <a:t>Application</a:t>
                      </a:r>
                      <a:r>
                        <a:rPr lang="en-US" sz="1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 Software shall be </a:t>
                      </a: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made Available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6739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Input 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</a:rPr>
                        <a:t>EXCEL</a:t>
                      </a:r>
                      <a:r>
                        <a:rPr lang="en-US" sz="1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 Sheet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</a:rPr>
                        <a:t>file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6739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CASE DESCRIPTION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8755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Sl no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Id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Procedure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Expected Result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Actual Result (Pass / Fail)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21139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7</a:t>
                      </a:r>
                    </a:p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FQT_07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User Interface will Display</a:t>
                      </a:r>
                    </a:p>
                    <a:p>
                      <a:pPr marL="228600" marR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Display the first question in UI.</a:t>
                      </a:r>
                    </a:p>
                    <a:p>
                      <a:pPr marL="228600" marR="0" indent="-228600" algn="l" defTabSz="9143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 The user  is allowed to select one answer from four options</a:t>
                      </a:r>
                    </a:p>
                    <a:p>
                      <a:pPr marL="228600" marR="0" indent="-228600" algn="l" defTabSz="9143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After choosing the option the user can navigate to next or previous questions</a:t>
                      </a:r>
                    </a:p>
                    <a:p>
                      <a:pPr marL="228600" marR="0" indent="-228600" algn="l" defTabSz="9143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Click on action buttons to navigate first and last question</a:t>
                      </a:r>
                    </a:p>
                    <a:p>
                      <a:pPr marL="228600" marR="0" indent="-228600" algn="l" defTabSz="9143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The user  is allowed to select one answer from four options</a:t>
                      </a:r>
                    </a:p>
                    <a:p>
                      <a:pPr marL="228600" marR="0" indent="-228600" algn="l" defTabSz="9143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After choosing the option the user can navigate to next or previous questions</a:t>
                      </a:r>
                    </a:p>
                    <a:p>
                      <a:pPr marL="228600" marR="0" indent="-228600" algn="l" defTabSz="9143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Click on action buttons to navigate first and last question</a:t>
                      </a:r>
                    </a:p>
                    <a:p>
                      <a:pPr marL="228600" marR="0" indent="-228600" algn="l" defTabSz="9143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Click on submit button to display the feedback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    Feedback will displayed with score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5691" marR="5691" marT="5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843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67057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30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9254" y="163662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Release and Deployment</a:t>
            </a:r>
            <a:endParaRPr lang="en-IN" b="1" dirty="0">
              <a:solidFill>
                <a:srgbClr val="C00000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833899"/>
              </p:ext>
            </p:extLst>
          </p:nvPr>
        </p:nvGraphicFramePr>
        <p:xfrm>
          <a:off x="540611" y="723900"/>
          <a:ext cx="7696201" cy="47630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96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305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689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0073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02899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5937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7867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SL .No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Scope Definition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Req_ID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Design_ID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Unit Test</a:t>
                      </a:r>
                      <a:r>
                        <a:rPr lang="en-US" sz="1400" b="1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FQT Test ID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1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Admin login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REQ_01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DGN_01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UNT_01 (Valid)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UNT_01 (Invalid)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UNT_01 (Outbound)</a:t>
                      </a:r>
                      <a:endParaRPr lang="en-US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FQT_01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8957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2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Uploading excel file to DB 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REQ_02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DGN_02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UNT_02 (Valid)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UNT_02 (Invalid)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UNT_02 (Outbound)</a:t>
                      </a:r>
                      <a:endParaRPr lang="en-US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FQT_02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8957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3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Student login 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REQ_03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DGN_03</a:t>
                      </a:r>
                      <a:endParaRPr lang="en-IN" sz="1100" dirty="0"/>
                    </a:p>
                    <a:p>
                      <a:pPr algn="ctr"/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UNT_03 (Valid)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UNT_03 (Invalid)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UNT_03 (Outbound)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FQT_03</a:t>
                      </a:r>
                      <a:endParaRPr lang="en-IN" sz="1100" dirty="0"/>
                    </a:p>
                    <a:p>
                      <a:pPr algn="ctr"/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8957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4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Question Presentation 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REQ_04</a:t>
                      </a:r>
                      <a:endParaRPr lang="en-IN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DGN_04</a:t>
                      </a:r>
                      <a:endParaRPr lang="en-IN" sz="1100" dirty="0"/>
                    </a:p>
                    <a:p>
                      <a:pPr algn="ctr"/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UNT_04 (Valid)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UNT_04 (Invalid)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UNT_04 (Outbound)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FQT_04</a:t>
                      </a:r>
                      <a:endParaRPr lang="en-IN" sz="1100" dirty="0"/>
                    </a:p>
                    <a:p>
                      <a:pPr algn="ctr"/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8957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5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Answer Selection 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REQ_05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DGN_05</a:t>
                      </a:r>
                      <a:endParaRPr lang="en-IN" sz="1100" dirty="0"/>
                    </a:p>
                    <a:p>
                      <a:pPr algn="ctr"/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UNT_05 (Valid)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UNT_05 (Invalid)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UNT_05 (Outbound)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FQT_05</a:t>
                      </a:r>
                      <a:endParaRPr lang="en-IN" sz="1100" dirty="0"/>
                    </a:p>
                    <a:p>
                      <a:pPr algn="ctr"/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8957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6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Navigation Control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REQ_06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DGN_06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UNT_06 (Valid)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UNT_06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(Invalid)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UNT_06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 (Outbound)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FQT_06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19136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+mn-lt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100" dirty="0">
                          <a:latin typeface="+mn-lt"/>
                          <a:cs typeface="Times New Roman" pitchFamily="18" charset="0"/>
                        </a:rPr>
                        <a:t>7</a:t>
                      </a:r>
                      <a:endParaRPr lang="en-IN" sz="1100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Feedback Display</a:t>
                      </a: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REQ_7</a:t>
                      </a: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DGN_07</a:t>
                      </a: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UNT_07 (Valid)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UNT_07</a:t>
                      </a:r>
                      <a:r>
                        <a:rPr lang="en-US" sz="11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(Invalid)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UNT_07</a:t>
                      </a:r>
                      <a:r>
                        <a:rPr lang="en-US" sz="11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(Outbound)</a:t>
                      </a: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FQT_07</a:t>
                      </a: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396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81800" y="527685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31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Release and Deployment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28700"/>
            <a:ext cx="7943850" cy="424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819400" y="647700"/>
            <a:ext cx="251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Click on</a:t>
            </a:r>
            <a:r>
              <a:rPr lang="en-IN" sz="1400" dirty="0">
                <a:sym typeface="Wingdings" pitchFamily="2" charset="2"/>
              </a:rPr>
              <a:t></a:t>
            </a:r>
            <a:r>
              <a:rPr lang="en-IN" sz="1400" dirty="0"/>
              <a:t>Setup.exe</a:t>
            </a:r>
          </a:p>
        </p:txBody>
      </p:sp>
    </p:spTree>
    <p:extLst>
      <p:ext uri="{BB962C8B-B14F-4D97-AF65-F5344CB8AC3E}">
        <p14:creationId xmlns:p14="http://schemas.microsoft.com/office/powerpoint/2010/main" val="3017493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67057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32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104900"/>
            <a:ext cx="4743450" cy="3600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819400" y="647700"/>
            <a:ext cx="251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Click on </a:t>
            </a:r>
            <a:r>
              <a:rPr lang="en-IN" sz="1400" dirty="0">
                <a:sym typeface="Wingdings" pitchFamily="2" charset="2"/>
              </a:rPr>
              <a:t> </a:t>
            </a:r>
            <a:r>
              <a:rPr lang="en-IN" sz="1400" dirty="0"/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254" y="163662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Release and Deployment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992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836865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33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181100"/>
            <a:ext cx="4743450" cy="3590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828800" y="6477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Accept the terms and conditions then </a:t>
            </a:r>
          </a:p>
          <a:p>
            <a:pPr algn="ctr"/>
            <a:r>
              <a:rPr lang="en-IN" sz="1400" dirty="0"/>
              <a:t>Click on </a:t>
            </a:r>
            <a:r>
              <a:rPr lang="en-IN" sz="1400" dirty="0">
                <a:sym typeface="Wingdings" pitchFamily="2" charset="2"/>
              </a:rPr>
              <a:t> </a:t>
            </a:r>
            <a:r>
              <a:rPr lang="en-IN" sz="1400" dirty="0"/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254" y="163662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Release and Deployment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58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818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34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485900"/>
            <a:ext cx="4695825" cy="3590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743200" y="87630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Type username then </a:t>
            </a:r>
          </a:p>
          <a:p>
            <a:pPr algn="ctr"/>
            <a:r>
              <a:rPr lang="en-IN" sz="1400" dirty="0"/>
              <a:t>Click on </a:t>
            </a:r>
            <a:r>
              <a:rPr lang="en-IN" sz="1400" dirty="0">
                <a:sym typeface="Wingdings" pitchFamily="2" charset="2"/>
              </a:rPr>
              <a:t> </a:t>
            </a:r>
            <a:r>
              <a:rPr lang="en-IN" sz="1400" dirty="0"/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254" y="163662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Release and Deployment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4465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05600" y="5248275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35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38300"/>
            <a:ext cx="4733925" cy="3609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743200" y="80010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Click on </a:t>
            </a:r>
            <a:r>
              <a:rPr lang="en-IN" sz="1400" dirty="0">
                <a:sym typeface="Wingdings" pitchFamily="2" charset="2"/>
              </a:rPr>
              <a:t> </a:t>
            </a:r>
            <a:r>
              <a:rPr lang="en-IN" sz="1400" dirty="0"/>
              <a:t>Complete then</a:t>
            </a:r>
          </a:p>
          <a:p>
            <a:pPr algn="ctr"/>
            <a:r>
              <a:rPr lang="en-IN" sz="1400" dirty="0"/>
              <a:t> Click on </a:t>
            </a:r>
            <a:r>
              <a:rPr lang="en-IN" sz="1400" dirty="0">
                <a:sym typeface="Wingdings" pitchFamily="2" charset="2"/>
              </a:rPr>
              <a:t>Next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49254" y="163662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Release and Deployment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50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056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36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1057275"/>
            <a:ext cx="4705350" cy="3600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819400" y="647700"/>
            <a:ext cx="251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Click on </a:t>
            </a:r>
            <a:r>
              <a:rPr lang="en-IN" sz="1400" dirty="0">
                <a:sym typeface="Wingdings" pitchFamily="2" charset="2"/>
              </a:rPr>
              <a:t>Install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49254" y="163662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Release and Deployment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238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056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37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986534"/>
              </p:ext>
            </p:extLst>
          </p:nvPr>
        </p:nvGraphicFramePr>
        <p:xfrm>
          <a:off x="2195513" y="1052513"/>
          <a:ext cx="4752975" cy="360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" name="Picture" r:id="rId3" imgW="4752360" imgH="3609360" progId="StaticDib">
                  <p:embed/>
                </p:oleObj>
              </mc:Choice>
              <mc:Fallback>
                <p:oleObj name="Picture" r:id="rId3" imgW="4752360" imgH="3609360" progId="StaticDib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513" y="1052513"/>
                        <a:ext cx="4752975" cy="3609975"/>
                      </a:xfrm>
                      <a:prstGeom prst="rect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9254" y="163662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Release and Deployment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130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816324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38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813944"/>
              </p:ext>
            </p:extLst>
          </p:nvPr>
        </p:nvGraphicFramePr>
        <p:xfrm>
          <a:off x="2205038" y="1052513"/>
          <a:ext cx="4733925" cy="360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" name="Picture" r:id="rId3" imgW="4733280" imgH="3609360" progId="StaticDib">
                  <p:embed/>
                </p:oleObj>
              </mc:Choice>
              <mc:Fallback>
                <p:oleObj name="Picture" r:id="rId3" imgW="4733280" imgH="3609360" progId="StaticDib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5038" y="1052513"/>
                        <a:ext cx="4733925" cy="3609975"/>
                      </a:xfrm>
                      <a:prstGeom prst="rect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19400" y="647700"/>
            <a:ext cx="251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Click on </a:t>
            </a:r>
            <a:r>
              <a:rPr lang="en-IN" sz="1400" dirty="0">
                <a:sym typeface="Wingdings" pitchFamily="2" charset="2"/>
              </a:rPr>
              <a:t> </a:t>
            </a:r>
            <a:r>
              <a:rPr lang="en-IN" sz="1400" dirty="0"/>
              <a:t>Finish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254" y="163662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Release and Deployment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5938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056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39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065311"/>
              </p:ext>
            </p:extLst>
          </p:nvPr>
        </p:nvGraphicFramePr>
        <p:xfrm>
          <a:off x="2262188" y="1462088"/>
          <a:ext cx="4618037" cy="279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Picture" r:id="rId3" imgW="4618800" imgH="2790360" progId="StaticDib">
                  <p:embed/>
                </p:oleObj>
              </mc:Choice>
              <mc:Fallback>
                <p:oleObj name="Picture" r:id="rId3" imgW="4618800" imgH="2790360" progId="StaticDib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2188" y="1462088"/>
                        <a:ext cx="4618037" cy="2790825"/>
                      </a:xfrm>
                      <a:prstGeom prst="rect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9254" y="163662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Release and Deployment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8657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824276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40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Project Snaps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58436" y="723900"/>
            <a:ext cx="1755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Admin Login Page</a:t>
            </a:r>
            <a:endParaRPr lang="en-IN" sz="1400" b="1" dirty="0"/>
          </a:p>
        </p:txBody>
      </p:sp>
      <p:pic>
        <p:nvPicPr>
          <p:cNvPr id="1172" name="Picture 1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1203960"/>
            <a:ext cx="4343400" cy="3756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4223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05600" y="5332228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41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Project Snaps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58436" y="723900"/>
            <a:ext cx="15969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User </a:t>
            </a:r>
            <a:r>
              <a:rPr lang="en-US" sz="1400" b="1" dirty="0"/>
              <a:t>Login Page</a:t>
            </a:r>
            <a:endParaRPr lang="en-IN" sz="14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181100"/>
            <a:ext cx="5719763" cy="415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80054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05600" y="5372364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42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19400" y="877788"/>
            <a:ext cx="3217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Admin </a:t>
            </a:r>
            <a:r>
              <a:rPr lang="en-US" sz="1400" b="1" dirty="0">
                <a:sym typeface="Wingdings" pitchFamily="2" charset="2"/>
              </a:rPr>
              <a:t> </a:t>
            </a:r>
            <a:r>
              <a:rPr lang="en-US" sz="1400" b="1" dirty="0"/>
              <a:t>Excel to DB transfer Snap</a:t>
            </a:r>
            <a:endParaRPr lang="en-IN" sz="1400" b="1" dirty="0"/>
          </a:p>
        </p:txBody>
      </p:sp>
      <p:grpSp>
        <p:nvGrpSpPr>
          <p:cNvPr id="7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49254" y="163662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Project Snaps Continue….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409700"/>
            <a:ext cx="4776788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74423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056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43</a:t>
            </a:r>
            <a:endParaRPr lang="en-US" dirty="0"/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Project Snaps Continue….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58436" y="644723"/>
            <a:ext cx="1806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Transfer Data Base</a:t>
            </a:r>
            <a:endParaRPr lang="en-IN" sz="14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52500"/>
            <a:ext cx="740664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3869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7402"/>
            <a:ext cx="7221120" cy="486275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44</a:t>
            </a:r>
            <a:endParaRPr lang="en-US" dirty="0"/>
          </a:p>
        </p:txBody>
      </p:sp>
      <p:grpSp>
        <p:nvGrpSpPr>
          <p:cNvPr id="4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6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49254" y="163662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Project Snaps Continue….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9385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23900"/>
            <a:ext cx="7531629" cy="48290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056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45</a:t>
            </a:r>
            <a:endParaRPr lang="en-US" dirty="0"/>
          </a:p>
        </p:txBody>
      </p:sp>
      <p:grpSp>
        <p:nvGrpSpPr>
          <p:cNvPr id="4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49254" y="163662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Project Snaps Continue….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2245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47700"/>
            <a:ext cx="7181965" cy="48254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629400" y="5321012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46</a:t>
            </a:r>
            <a:endParaRPr lang="en-US" dirty="0"/>
          </a:p>
        </p:txBody>
      </p:sp>
      <p:grpSp>
        <p:nvGrpSpPr>
          <p:cNvPr id="4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49254" y="163662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Project Snaps Continue….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4364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818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47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5"/>
          <a:stretch/>
        </p:blipFill>
        <p:spPr bwMode="auto">
          <a:xfrm>
            <a:off x="1752600" y="1104900"/>
            <a:ext cx="5658134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Project Snaps Continue….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19400" y="710250"/>
            <a:ext cx="36519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Exam Mode Page </a:t>
            </a:r>
            <a:r>
              <a:rPr lang="en-US" sz="1400" b="1" dirty="0">
                <a:sym typeface="Wingdings" pitchFamily="2" charset="2"/>
              </a:rPr>
              <a:t> Result Page  </a:t>
            </a:r>
            <a:r>
              <a:rPr lang="en-US" sz="1400" b="1" dirty="0">
                <a:solidFill>
                  <a:srgbClr val="009900"/>
                </a:solidFill>
                <a:sym typeface="Wingdings" pitchFamily="2" charset="2"/>
              </a:rPr>
              <a:t>Pass</a:t>
            </a:r>
            <a:endParaRPr lang="en-IN" sz="1400" b="1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5310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81800" y="5296231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48</a:t>
            </a:r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104900"/>
            <a:ext cx="5867400" cy="419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27">
            <a:extLst>
              <a:ext uri="{FF2B5EF4-FFF2-40B4-BE49-F238E27FC236}">
                <a16:creationId xmlns:a16="http://schemas.microsoft.com/office/drawing/2014/main" xmlns="" id="{D5B3EDA1-E662-E3D6-DCB4-A056138FDB25}"/>
              </a:ext>
            </a:extLst>
          </p:cNvPr>
          <p:cNvGrpSpPr>
            <a:grpSpLocks/>
          </p:cNvGrpSpPr>
          <p:nvPr/>
        </p:nvGrpSpPr>
        <p:grpSpPr bwMode="auto">
          <a:xfrm>
            <a:off x="152404" y="404839"/>
            <a:ext cx="8842375" cy="182563"/>
            <a:chOff x="0" y="0"/>
            <a:chExt cx="9289288" cy="26170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xmlns="" id="{4A21F1C1-981A-0A55-AF0E-E54D901BE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>
              <a:extLst>
                <a:ext uri="{FF2B5EF4-FFF2-40B4-BE49-F238E27FC236}">
                  <a16:creationId xmlns:a16="http://schemas.microsoft.com/office/drawing/2014/main" xmlns="" id="{3C3FEFCE-D773-25C2-E9E6-9A586522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9254" y="163662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Project Snaps Continue….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19400" y="710249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Exam Mode Page </a:t>
            </a:r>
            <a:r>
              <a:rPr lang="en-US" sz="1400" b="1" dirty="0">
                <a:sym typeface="Wingdings" pitchFamily="2" charset="2"/>
              </a:rPr>
              <a:t> Result Page  </a:t>
            </a:r>
            <a:r>
              <a:rPr lang="en-US" sz="1400" b="1" dirty="0">
                <a:solidFill>
                  <a:srgbClr val="C00000"/>
                </a:solidFill>
                <a:sym typeface="Wingdings" pitchFamily="2" charset="2"/>
              </a:rPr>
              <a:t>Fail</a:t>
            </a:r>
            <a:endParaRPr lang="en-IN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186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190500"/>
            <a:ext cx="2357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IN" b="1" dirty="0">
                <a:solidFill>
                  <a:srgbClr val="C00000"/>
                </a:solidFill>
                <a:latin typeface="Calibri" pitchFamily="34" charset="0"/>
              </a:rPr>
              <a:t>SDLC(Waterfall Model)</a:t>
            </a:r>
            <a:endParaRPr lang="en-US" b="1" dirty="0">
              <a:solidFill>
                <a:srgbClr val="C00000"/>
              </a:solidFill>
              <a:latin typeface="Calibri" pitchFamily="34" charset="0"/>
            </a:endParaRPr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152400" y="419100"/>
            <a:ext cx="8842375" cy="182563"/>
            <a:chOff x="0" y="0"/>
            <a:chExt cx="9289288" cy="261706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8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629400" y="5295900"/>
            <a:ext cx="2133600" cy="304271"/>
          </a:xfrm>
        </p:spPr>
        <p:txBody>
          <a:bodyPr vert="horz" lIns="91440" tIns="45720" rIns="91440" bIns="45720" rtlCol="0" anchor="ctr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49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2F241639-1A61-E81A-DA47-A9D07E708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306007"/>
              </p:ext>
            </p:extLst>
          </p:nvPr>
        </p:nvGraphicFramePr>
        <p:xfrm>
          <a:off x="457200" y="1257301"/>
          <a:ext cx="8330750" cy="33224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xmlns="" val="2727371026"/>
                    </a:ext>
                  </a:extLst>
                </a:gridCol>
                <a:gridCol w="76200"/>
                <a:gridCol w="1082011">
                  <a:extLst>
                    <a:ext uri="{9D8B030D-6E8A-4147-A177-3AD203B41FA5}">
                      <a16:colId xmlns:a16="http://schemas.microsoft.com/office/drawing/2014/main" xmlns="" val="1027009275"/>
                    </a:ext>
                  </a:extLst>
                </a:gridCol>
                <a:gridCol w="1573419">
                  <a:extLst>
                    <a:ext uri="{9D8B030D-6E8A-4147-A177-3AD203B41FA5}">
                      <a16:colId xmlns:a16="http://schemas.microsoft.com/office/drawing/2014/main" xmlns="" val="3494555511"/>
                    </a:ext>
                  </a:extLst>
                </a:gridCol>
                <a:gridCol w="1459370">
                  <a:extLst>
                    <a:ext uri="{9D8B030D-6E8A-4147-A177-3AD203B41FA5}">
                      <a16:colId xmlns:a16="http://schemas.microsoft.com/office/drawing/2014/main" xmlns="" val="3851812113"/>
                    </a:ext>
                  </a:extLst>
                </a:gridCol>
                <a:gridCol w="138999"/>
                <a:gridCol w="1473152">
                  <a:extLst>
                    <a:ext uri="{9D8B030D-6E8A-4147-A177-3AD203B41FA5}">
                      <a16:colId xmlns:a16="http://schemas.microsoft.com/office/drawing/2014/main" xmlns="" val="2076248990"/>
                    </a:ext>
                  </a:extLst>
                </a:gridCol>
                <a:gridCol w="1155999">
                  <a:extLst>
                    <a:ext uri="{9D8B030D-6E8A-4147-A177-3AD203B41FA5}">
                      <a16:colId xmlns:a16="http://schemas.microsoft.com/office/drawing/2014/main" xmlns="" val="2642666722"/>
                    </a:ext>
                  </a:extLst>
                </a:gridCol>
              </a:tblGrid>
              <a:tr h="174359">
                <a:tc>
                  <a:txBody>
                    <a:bodyPr/>
                    <a:lstStyle/>
                    <a:p>
                      <a:pPr algn="l" fontAlgn="b"/>
                      <a:r>
                        <a:rPr lang="en-IN" sz="700" u="none" strike="noStrike" dirty="0">
                          <a:effectLst/>
                        </a:rPr>
                        <a:t> 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1" marR="6311" marT="6311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IN" sz="700" u="none" strike="noStrike" dirty="0">
                          <a:effectLst/>
                        </a:rPr>
                        <a:t> 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1" marR="6311" marT="6311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1" marR="6311" marT="631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700" u="none" strike="noStrike" dirty="0">
                          <a:effectLst/>
                        </a:rPr>
                        <a:t> 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1" marR="6311" marT="6311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IN" sz="700" u="none" strike="noStrike" dirty="0">
                          <a:effectLst/>
                        </a:rPr>
                        <a:t> 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1" marR="6311" marT="6311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700" u="none" strike="noStrike" dirty="0">
                          <a:effectLst/>
                        </a:rPr>
                        <a:t> 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1" marR="6311" marT="631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700" u="none" strike="noStrike" dirty="0">
                          <a:effectLst/>
                        </a:rPr>
                        <a:t> 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1" marR="6311" marT="6311" marB="0" anchor="b"/>
                </a:tc>
                <a:extLst>
                  <a:ext uri="{0D108BD9-81ED-4DB2-BD59-A6C34878D82A}">
                    <a16:rowId xmlns:a16="http://schemas.microsoft.com/office/drawing/2014/main" xmlns="" val="1939372342"/>
                  </a:ext>
                </a:extLst>
              </a:tr>
              <a:tr h="200514"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+mn-lt"/>
                        </a:rPr>
                        <a:t>Waterfall  - Software Development Life Cycle (SDLC) Model</a:t>
                      </a: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 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6311" marR="6311" marT="6311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35329132"/>
                  </a:ext>
                </a:extLst>
              </a:tr>
              <a:tr h="191796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u="none" strike="noStrike" dirty="0">
                          <a:effectLst/>
                          <a:latin typeface="+mn-lt"/>
                        </a:rPr>
                        <a:t>Initiation Phase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11" marR="6311" marT="6311" marB="0" anchor="ctr"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u="none" strike="noStrike" dirty="0">
                          <a:effectLst/>
                          <a:latin typeface="+mn-lt"/>
                        </a:rPr>
                        <a:t>Planning Phase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11" marR="6311" marT="6311" marB="0" anchor="ctr"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u="none" strike="noStrike" dirty="0">
                          <a:effectLst/>
                          <a:latin typeface="+mn-lt"/>
                        </a:rPr>
                        <a:t>Execution Phase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11" marR="6311" marT="6311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u="none" strike="noStrike" dirty="0">
                          <a:effectLst/>
                          <a:latin typeface="+mn-lt"/>
                        </a:rPr>
                        <a:t>Monitor &amp; Control Phase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11" marR="6311" marT="6311" marB="0" anchor="ctr"/>
                </a:tc>
                <a:tc rowSpan="2" hMerge="1">
                  <a:txBody>
                    <a:bodyPr/>
                    <a:lstStyle/>
                    <a:p>
                      <a:pPr algn="ctr" rtl="0" fontAlgn="ctr"/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11" marR="6311" marT="631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u="none" strike="noStrike" dirty="0">
                          <a:effectLst/>
                          <a:latin typeface="+mn-lt"/>
                        </a:rPr>
                        <a:t>Closure Phase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11" marR="6311" marT="6311" marB="0" anchor="ctr"/>
                </a:tc>
                <a:extLst>
                  <a:ext uri="{0D108BD9-81ED-4DB2-BD59-A6C34878D82A}">
                    <a16:rowId xmlns:a16="http://schemas.microsoft.com/office/drawing/2014/main" xmlns="" val="3363746067"/>
                  </a:ext>
                </a:extLst>
              </a:tr>
              <a:tr h="191796"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u="none" strike="noStrike" dirty="0">
                          <a:effectLst/>
                          <a:latin typeface="+mn-lt"/>
                        </a:rPr>
                        <a:t>Design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11" marR="6311" marT="631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u="none" strike="noStrike" dirty="0">
                          <a:effectLst/>
                          <a:latin typeface="+mn-lt"/>
                        </a:rPr>
                        <a:t>Implementation (Coding)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11" marR="6311" marT="6311" marB="0" anchor="ctr"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30643472"/>
                  </a:ext>
                </a:extLst>
              </a:tr>
              <a:tr h="2022569">
                <a:tc gridSpan="2">
                  <a:txBody>
                    <a:bodyPr/>
                    <a:lstStyle/>
                    <a:p>
                      <a:pPr algn="l" rtl="0" fontAlgn="t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1). Project Overview 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2). </a:t>
                      </a:r>
                      <a:r>
                        <a:rPr lang="en-US" sz="1200" u="none" strike="noStrike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Project Abstract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/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11" marR="6311" marT="6311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1). Project workout plan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2). Project Requirements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3</a:t>
                      </a:r>
                      <a:r>
                        <a:rPr lang="en-US" sz="1200" u="none" strike="noStrike" dirty="0" smtClean="0">
                          <a:effectLst/>
                          <a:latin typeface="+mn-lt"/>
                        </a:rPr>
                        <a:t>).Requirement Analysis</a:t>
                      </a:r>
                    </a:p>
                    <a:p>
                      <a:pPr algn="l" rtl="0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r>
                        <a:rPr lang="en-US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IN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IN" sz="1200" b="1" dirty="0" smtClean="0">
                          <a:latin typeface="+mn-lt"/>
                        </a:rPr>
                        <a:t> </a:t>
                      </a:r>
                      <a:r>
                        <a:rPr lang="en-IN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 Framework Establishment.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IN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5).</a:t>
                      </a:r>
                      <a:r>
                        <a:rPr lang="en-IN" sz="1200" b="1" dirty="0" smtClean="0">
                          <a:latin typeface="+mn-lt"/>
                        </a:rPr>
                        <a:t> </a:t>
                      </a:r>
                      <a:r>
                        <a:rPr lang="en-IN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Plan &amp; test cases.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IN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6).</a:t>
                      </a:r>
                      <a:r>
                        <a:rPr lang="en-IN" sz="1200" b="1" dirty="0" smtClean="0">
                          <a:latin typeface="+mn-lt"/>
                        </a:rPr>
                        <a:t> </a:t>
                      </a:r>
                      <a:r>
                        <a:rPr lang="en-IN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Release &amp; Deployment Plan</a:t>
                      </a:r>
                      <a:endParaRPr 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11" marR="6311" marT="6311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1). Flow Chart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2). Use case diagram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3). Activity diagram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4). Sequence diagram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5). Class diagram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6). Project Design Approach Technique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11" marR="6311" marT="6311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200" u="none" strike="noStrike" dirty="0" smtClean="0">
                          <a:effectLst/>
                          <a:latin typeface="+mn-lt"/>
                        </a:rPr>
                        <a:t>1). </a:t>
                      </a: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Source code 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baseline="0" dirty="0" smtClean="0">
                          <a:effectLst/>
                          <a:latin typeface="+mn-lt"/>
                        </a:rPr>
                        <a:t> 2</a:t>
                      </a:r>
                      <a:r>
                        <a:rPr lang="en-US" sz="1200" u="none" strike="noStrike" dirty="0" smtClean="0">
                          <a:effectLst/>
                          <a:latin typeface="+mn-lt"/>
                        </a:rPr>
                        <a:t>). </a:t>
                      </a: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Test the source code with test case approach</a:t>
                      </a:r>
                      <a:r>
                        <a:rPr lang="en-US" sz="1200" u="none" strike="noStrike" dirty="0" smtClean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 algn="l" rtl="0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3).</a:t>
                      </a:r>
                      <a:r>
                        <a:rPr lang="en-IN" sz="1200" b="1" dirty="0" smtClean="0">
                          <a:latin typeface="+mn-lt"/>
                        </a:rPr>
                        <a:t> </a:t>
                      </a:r>
                      <a:r>
                        <a:rPr lang="en-IN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 integration</a:t>
                      </a:r>
                      <a:endParaRPr 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11" marR="6311" marT="6311" marB="0"/>
                </a:tc>
                <a:tc gridSpan="2">
                  <a:txBody>
                    <a:bodyPr/>
                    <a:lstStyle/>
                    <a:p>
                      <a:pPr algn="l" rtl="0" fontAlgn="t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1). Software release or deployed component in test environment. 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2). Standard testing using test case Approach.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i. Unit Test case Validation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ii. Functional qualification testing</a:t>
                      </a:r>
                      <a:r>
                        <a:rPr lang="en-US" sz="1200" u="none" strike="noStrike" dirty="0" smtClean="0">
                          <a:effectLst/>
                          <a:latin typeface="+mn-lt"/>
                        </a:rPr>
                        <a:t>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3599" marR="6311" marT="6311" marB="0"/>
                </a:tc>
                <a:tc hMerge="1">
                  <a:txBody>
                    <a:bodyPr/>
                    <a:lstStyle/>
                    <a:p>
                      <a:pPr algn="l" rtl="0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3599" marR="6311" marT="6311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 1). Presentation for Project Closure.</a:t>
                      </a:r>
                      <a:br>
                        <a:rPr lang="en-US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 2). Feedback From Organization</a:t>
                      </a:r>
                      <a:r>
                        <a:rPr lang="en-US" sz="1200" u="none" strike="noStrike" dirty="0" smtClean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3).</a:t>
                      </a:r>
                      <a:r>
                        <a:rPr lang="en-US" sz="1200" u="none" strike="noStrike" dirty="0" smtClean="0">
                          <a:effectLst/>
                          <a:latin typeface="+mn-lt"/>
                        </a:rPr>
                        <a:t> Document Lesson Learned ,  Best Practices ,Risks and Issues.</a:t>
                      </a:r>
                      <a:endParaRPr lang="en-US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rtl="0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11" marR="6311" marT="6311" marB="0"/>
                </a:tc>
                <a:extLst>
                  <a:ext uri="{0D108BD9-81ED-4DB2-BD59-A6C34878D82A}">
                    <a16:rowId xmlns:a16="http://schemas.microsoft.com/office/drawing/2014/main" xmlns="" val="3498671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304323"/>
      </p:ext>
    </p:extLst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4671" y="723900"/>
            <a:ext cx="8229600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Lessons Learned</a:t>
            </a:r>
            <a:r>
              <a:rPr lang="en-US" sz="14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:</a:t>
            </a:r>
            <a:endParaRPr lang="en-US" sz="14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+mn-lt"/>
              </a:rPr>
              <a:t>Waterfall Model </a:t>
            </a:r>
            <a:r>
              <a:rPr lang="en-US" sz="1400" dirty="0">
                <a:latin typeface="+mn-lt"/>
              </a:rPr>
              <a:t>: Gained a thorough understanding of each phase within the Waterfall development methodology.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+mn-lt"/>
              </a:rPr>
              <a:t>Design patterns : </a:t>
            </a:r>
            <a:r>
              <a:rPr lang="en-US" sz="1400" dirty="0">
                <a:latin typeface="+mn-lt"/>
              </a:rPr>
              <a:t>Designing class , sequence , use case and activity diagram.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+mn-lt"/>
              </a:rPr>
              <a:t>Test  Cases: </a:t>
            </a:r>
            <a:r>
              <a:rPr lang="en-US" sz="1400" dirty="0">
                <a:latin typeface="+mn-lt"/>
              </a:rPr>
              <a:t>Unit and functional quality test cases creation fundamentally understood.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+mn-lt"/>
              </a:rPr>
              <a:t>Requirement Gathering &amp; Analysis:</a:t>
            </a:r>
            <a:r>
              <a:rPr lang="en-US" sz="1400" dirty="0">
                <a:latin typeface="+mn-lt"/>
              </a:rPr>
              <a:t> Developed skills in eliciting clear, concise, and testable requirements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+mn-lt"/>
              </a:rPr>
              <a:t>Release and Deployment: </a:t>
            </a:r>
            <a:r>
              <a:rPr lang="en-US" sz="1400" dirty="0">
                <a:latin typeface="+mn-lt"/>
              </a:rPr>
              <a:t>Learned how to deploy the code into executable file  and install the complete application.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+mn-lt"/>
              </a:rPr>
              <a:t>Database</a:t>
            </a:r>
            <a:r>
              <a:rPr lang="en-US" sz="1400" dirty="0">
                <a:latin typeface="+mn-lt"/>
              </a:rPr>
              <a:t> : Creation of database , creation of tables and importing of files from external source.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+mn-lt"/>
              </a:rPr>
              <a:t>Debugging:</a:t>
            </a:r>
            <a:r>
              <a:rPr lang="en-US" sz="1400" dirty="0">
                <a:latin typeface="+mn-lt"/>
              </a:rPr>
              <a:t> Gained the ability to identify and fix errors (bugs) in code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+mn-lt"/>
              </a:rPr>
              <a:t>Code Organization: </a:t>
            </a:r>
            <a:r>
              <a:rPr lang="en-US" sz="1400" dirty="0">
                <a:latin typeface="+mn-lt"/>
              </a:rPr>
              <a:t>Learning to keep code tidy and well-structured.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+mn-lt"/>
              </a:rPr>
              <a:t>Code Refactoring: </a:t>
            </a:r>
            <a:r>
              <a:rPr lang="en-US" sz="1400" dirty="0">
                <a:latin typeface="+mn-lt"/>
              </a:rPr>
              <a:t>Learned techniques to improve the structure and readability of existing code without changing its functionality.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90500"/>
            <a:ext cx="1827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IN" b="1" dirty="0">
                <a:solidFill>
                  <a:srgbClr val="C00000"/>
                </a:solidFill>
                <a:latin typeface="Calibri" pitchFamily="34" charset="0"/>
              </a:rPr>
              <a:t>Project Summary</a:t>
            </a:r>
            <a:endParaRPr lang="en-US" b="1" dirty="0">
              <a:solidFill>
                <a:srgbClr val="C00000"/>
              </a:solidFill>
              <a:latin typeface="Calibri" pitchFamily="34" charset="0"/>
            </a:endParaRPr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152400" y="419100"/>
            <a:ext cx="8842375" cy="182563"/>
            <a:chOff x="0" y="0"/>
            <a:chExt cx="9289288" cy="261706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8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056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50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525884"/>
      </p:ext>
    </p:extLst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4671" y="723900"/>
            <a:ext cx="82296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u="sng" dirty="0">
                <a:latin typeface="+mn-lt"/>
              </a:rPr>
              <a:t>Risks:</a:t>
            </a:r>
            <a:endParaRPr lang="en-US" sz="1400" dirty="0">
              <a:latin typeface="+mn-lt"/>
            </a:endParaRPr>
          </a:p>
          <a:p>
            <a:pPr marL="342900" indent="-342900" algn="just">
              <a:lnSpc>
                <a:spcPct val="200000"/>
              </a:lnSpc>
              <a:buAutoNum type="arabicPeriod"/>
            </a:pPr>
            <a:r>
              <a:rPr lang="en-US" sz="1400" dirty="0">
                <a:latin typeface="+mn-lt"/>
              </a:rPr>
              <a:t>The ingestion process cannot handle increasing volumes of Excel data, hindering future growth.</a:t>
            </a:r>
          </a:p>
          <a:p>
            <a:pPr marL="342900" indent="-342900" algn="just">
              <a:lnSpc>
                <a:spcPct val="200000"/>
              </a:lnSpc>
              <a:buAutoNum type="arabicPeriod"/>
            </a:pPr>
            <a:r>
              <a:rPr lang="en-US" sz="1400" dirty="0">
                <a:latin typeface="+mn-lt"/>
              </a:rPr>
              <a:t>The system is tightly coupled to a specific Excel format, creating difficulties if the format changes.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If exam content becomes outdated, regular updates are needed.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Multiple admin accessing the application at the same time may lead to lack of integrity.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If the file is improperly formatted wrong column headers, incorrect data types, missing data, it may  produce incorrect results. 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Excel files can get corrupted or deleted, resulting in the loss of data.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Storage of previously loaded questions in DB may cause mismatch between questions.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The lack of formatted dependency cause the application instability</a:t>
            </a:r>
            <a:r>
              <a:rPr lang="en-US" sz="1400" b="1" dirty="0">
                <a:latin typeface="+mn-lt"/>
              </a:rPr>
              <a:t>.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90500"/>
            <a:ext cx="1827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IN" b="1" dirty="0">
                <a:solidFill>
                  <a:srgbClr val="C00000"/>
                </a:solidFill>
                <a:latin typeface="Calibri" pitchFamily="34" charset="0"/>
              </a:rPr>
              <a:t>Project Summary</a:t>
            </a:r>
            <a:endParaRPr lang="en-US" b="1" dirty="0">
              <a:solidFill>
                <a:srgbClr val="C00000"/>
              </a:solidFill>
              <a:latin typeface="Calibri" pitchFamily="34" charset="0"/>
            </a:endParaRPr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152400" y="419100"/>
            <a:ext cx="8842375" cy="182563"/>
            <a:chOff x="0" y="0"/>
            <a:chExt cx="9289288" cy="261706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8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05600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51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029212"/>
      </p:ext>
    </p:extLst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4671" y="723900"/>
            <a:ext cx="8229600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b="1" u="sng" dirty="0" smtClean="0">
              <a:latin typeface="+mn-lt"/>
            </a:endParaRPr>
          </a:p>
          <a:p>
            <a:r>
              <a:rPr lang="en-US" sz="1400" b="1" u="sng" dirty="0" smtClean="0">
                <a:latin typeface="+mn-lt"/>
              </a:rPr>
              <a:t>Best </a:t>
            </a:r>
            <a:r>
              <a:rPr lang="en-US" sz="1400" b="1" u="sng" dirty="0">
                <a:latin typeface="+mn-lt"/>
              </a:rPr>
              <a:t>Practices</a:t>
            </a:r>
            <a:r>
              <a:rPr lang="en-US" sz="1400" b="1" u="sng" dirty="0" smtClean="0">
                <a:latin typeface="+mn-lt"/>
              </a:rPr>
              <a:t>:</a:t>
            </a:r>
            <a:endParaRPr lang="en-US" sz="1400" dirty="0" smtClean="0">
              <a:latin typeface="+mn-lt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 smtClean="0">
                <a:latin typeface="+mn-lt"/>
              </a:rPr>
              <a:t>Day to day updation of code and documentation.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 smtClean="0">
                <a:latin typeface="+mn-lt"/>
              </a:rPr>
              <a:t>Understanding of complete Software Development Life cycle (SDLC) process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 smtClean="0">
                <a:latin typeface="+mn-lt"/>
              </a:rPr>
              <a:t>Referred videos and documents for reference.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Continuously </a:t>
            </a:r>
            <a:r>
              <a:rPr lang="en-US" sz="1400" dirty="0" smtClean="0">
                <a:latin typeface="+mn-lt"/>
              </a:rPr>
              <a:t>learning </a:t>
            </a:r>
            <a:r>
              <a:rPr lang="en-US" sz="1400" dirty="0">
                <a:latin typeface="+mn-lt"/>
              </a:rPr>
              <a:t>about new </a:t>
            </a:r>
            <a:r>
              <a:rPr lang="en-US" sz="1400" dirty="0" smtClean="0">
                <a:latin typeface="+mn-lt"/>
              </a:rPr>
              <a:t>technologies.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 smtClean="0">
                <a:latin typeface="+mn-lt"/>
              </a:rPr>
              <a:t>Actively </a:t>
            </a:r>
            <a:r>
              <a:rPr lang="en-US" sz="1400" dirty="0">
                <a:latin typeface="+mn-lt"/>
              </a:rPr>
              <a:t>participate in regular team meetings</a:t>
            </a:r>
            <a:r>
              <a:rPr lang="en-US" sz="1400" dirty="0" smtClean="0">
                <a:latin typeface="+mn-lt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 smtClean="0">
                <a:latin typeface="+mn-lt"/>
              </a:rPr>
              <a:t>Knowledge sharing and </a:t>
            </a:r>
            <a:r>
              <a:rPr lang="en-US" sz="1400" dirty="0">
                <a:latin typeface="+mn-lt"/>
              </a:rPr>
              <a:t>d</a:t>
            </a:r>
            <a:r>
              <a:rPr lang="en-US" sz="1400" dirty="0" smtClean="0">
                <a:latin typeface="+mn-lt"/>
              </a:rPr>
              <a:t>ocumentation for future reference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400" dirty="0" smtClean="0">
              <a:latin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400" dirty="0" smtClean="0">
              <a:latin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400" dirty="0" smtClean="0">
              <a:latin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400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190500"/>
            <a:ext cx="1827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IN" b="1" dirty="0">
                <a:solidFill>
                  <a:srgbClr val="C00000"/>
                </a:solidFill>
                <a:latin typeface="Calibri" pitchFamily="34" charset="0"/>
              </a:rPr>
              <a:t>Project Summary</a:t>
            </a:r>
            <a:endParaRPr lang="en-US" b="1" dirty="0">
              <a:solidFill>
                <a:srgbClr val="C00000"/>
              </a:solidFill>
              <a:latin typeface="Calibri" pitchFamily="34" charset="0"/>
            </a:endParaRPr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152400" y="419100"/>
            <a:ext cx="8842375" cy="182563"/>
            <a:chOff x="0" y="0"/>
            <a:chExt cx="9289288" cy="261706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8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0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/>
              <a:t>52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82302"/>
      </p:ext>
    </p:extLst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4671" y="723900"/>
            <a:ext cx="8229600" cy="44967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u="sng" dirty="0">
                <a:latin typeface="+mn-lt"/>
              </a:rPr>
              <a:t>Issues:</a:t>
            </a:r>
            <a:endParaRPr lang="en-US" sz="1600" b="1" dirty="0">
              <a:latin typeface="+mn-lt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Excel data doesn't always map cleanly to database types.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Pie chart slices were not accurately reflecting the data proportions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The Excel structure differs from the expected database schema, leading to incorrect data placement or failed ingestion.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Ingestion process doesn't effectively handle duplicate records, resulting in redundant data in the database.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Uploading specific </a:t>
            </a:r>
            <a:r>
              <a:rPr lang="en-US" sz="1400" dirty="0" smtClean="0">
                <a:latin typeface="+mn-lt"/>
              </a:rPr>
              <a:t>dependency </a:t>
            </a:r>
            <a:r>
              <a:rPr lang="en-US" sz="1400" dirty="0">
                <a:latin typeface="+mn-lt"/>
              </a:rPr>
              <a:t>files for various functionalities in code.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Connection of </a:t>
            </a:r>
            <a:r>
              <a:rPr lang="en-US" sz="1400" dirty="0" smtClean="0">
                <a:latin typeface="+mn-lt"/>
              </a:rPr>
              <a:t>PostgreSql database </a:t>
            </a:r>
            <a:r>
              <a:rPr lang="en-US" sz="1400" dirty="0">
                <a:latin typeface="+mn-lt"/>
              </a:rPr>
              <a:t>to the frontend UI.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400" dirty="0">
              <a:latin typeface="+mn-lt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190500"/>
            <a:ext cx="1827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IN" b="1" dirty="0">
                <a:solidFill>
                  <a:srgbClr val="C00000"/>
                </a:solidFill>
                <a:latin typeface="Calibri" pitchFamily="34" charset="0"/>
              </a:rPr>
              <a:t>Project Summary</a:t>
            </a:r>
            <a:endParaRPr lang="en-US" b="1" dirty="0">
              <a:solidFill>
                <a:srgbClr val="C00000"/>
              </a:solidFill>
              <a:latin typeface="Calibri" pitchFamily="34" charset="0"/>
            </a:endParaRPr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152400" y="419100"/>
            <a:ext cx="8842375" cy="182563"/>
            <a:chOff x="0" y="0"/>
            <a:chExt cx="9289288" cy="261706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8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/>
              <a:t>53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374157"/>
      </p:ext>
    </p:extLst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152400" y="404839"/>
            <a:ext cx="8842375" cy="182563"/>
            <a:chOff x="0" y="0"/>
            <a:chExt cx="9289288" cy="261706"/>
          </a:xfrm>
        </p:grpSpPr>
        <p:sp>
          <p:nvSpPr>
            <p:cNvPr id="21592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1593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25400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46243" y="65405"/>
            <a:ext cx="6858000" cy="533135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+mn-ea"/>
                <a:cs typeface="Arial" charset="0"/>
              </a:rPr>
              <a:t>Future Enhancement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"/>
            <a:ext cx="70104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sz="1400" dirty="0">
              <a:latin typeface="+mn-lt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Check for missing or incorrect data before inserting.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Allow seamless integration with LMS 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Multiple subjects can be introduced.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Ensure the application is fully functional and aesthetically pleasing on all devices (desktops, tablets, smartphones</a:t>
            </a:r>
            <a:r>
              <a:rPr lang="en-US" sz="1400" dirty="0" smtClean="0">
                <a:latin typeface="+mn-lt"/>
              </a:rPr>
              <a:t>).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b="1" dirty="0" smtClean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UI modification can be done.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Importing different file formats.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Enable users to share resources(study material).</a:t>
            </a:r>
          </a:p>
          <a:p>
            <a:pPr>
              <a:lnSpc>
                <a:spcPct val="200000"/>
              </a:lnSpc>
            </a:pPr>
            <a:endParaRPr lang="en-US" sz="1400" dirty="0">
              <a:latin typeface="+mn-lt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en-US" sz="14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42166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54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416485"/>
      </p:ext>
    </p:extLst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09800" y="2019300"/>
            <a:ext cx="434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>
                <a:latin typeface="Freestyle Script" pitchFamily="66" charset="0"/>
              </a:rPr>
              <a:t>Thank You</a:t>
            </a: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152400" y="419100"/>
            <a:ext cx="8842375" cy="182563"/>
            <a:chOff x="0" y="0"/>
            <a:chExt cx="9289288" cy="261706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0" y="206709"/>
              <a:ext cx="9289288" cy="54997"/>
            </a:xfrm>
            <a:prstGeom prst="rect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7" name="Right Triangle 7"/>
            <p:cNvSpPr>
              <a:spLocks noChangeArrowheads="1"/>
            </p:cNvSpPr>
            <p:nvPr/>
          </p:nvSpPr>
          <p:spPr bwMode="auto">
            <a:xfrm>
              <a:off x="0" y="0"/>
              <a:ext cx="206799" cy="206709"/>
            </a:xfrm>
            <a:prstGeom prst="rtTriangle">
              <a:avLst/>
            </a:prstGeom>
            <a:solidFill>
              <a:srgbClr val="6DD9FF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Font typeface="Arial" charset="0"/>
                <a:buNone/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861175" y="5295900"/>
            <a:ext cx="2133600" cy="304271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55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792519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29440</TotalTime>
  <Words>3606</Words>
  <Application>Microsoft Office PowerPoint</Application>
  <PresentationFormat>On-screen Show (16:10)</PresentationFormat>
  <Paragraphs>1095</Paragraphs>
  <Slides>55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7" baseType="lpstr">
      <vt:lpstr>Office Theme</vt:lpstr>
      <vt:lpstr>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Design Aspects</vt:lpstr>
      <vt:lpstr>Flowchart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Unit Test Cases</vt:lpstr>
      <vt:lpstr>Unit Test Cases</vt:lpstr>
      <vt:lpstr>Unit Test Cases</vt:lpstr>
      <vt:lpstr>Unit Test Cases</vt:lpstr>
      <vt:lpstr>Unit Test Cases</vt:lpstr>
      <vt:lpstr>Unit Test Cases</vt:lpstr>
      <vt:lpstr>Unit Test Cases</vt:lpstr>
      <vt:lpstr>Unit Test Case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Enhancement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srishti</dc:creator>
  <cp:lastModifiedBy>BSTC</cp:lastModifiedBy>
  <cp:revision>4491</cp:revision>
  <cp:lastPrinted>2024-02-21T08:38:20Z</cp:lastPrinted>
  <dcterms:created xsi:type="dcterms:W3CDTF">2014-11-15T12:35:25Z</dcterms:created>
  <dcterms:modified xsi:type="dcterms:W3CDTF">2026-01-22T08:29:14Z</dcterms:modified>
</cp:coreProperties>
</file>